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b345d6f15b74343" /><Relationship Type="http://schemas.openxmlformats.org/officeDocument/2006/relationships/extended-properties" Target="/docProps/app.xml" Id="R40f7fc3810e94ba0" /><Relationship Type="http://schemas.openxmlformats.org/officeDocument/2006/relationships/officeDocument" Target="/ppt/presentation.xml" Id="R66ab86f9f0da422c" /></Relationships>
</file>

<file path=ppt/presentation.xml><?xml version="1.0" encoding="utf-8"?>
<p:presentation xmlns:p="http://schemas.openxmlformats.org/presentationml/2006/main">
  <p:sldMasterIdLst>
    <p:sldMasterId xmlns:r="http://schemas.openxmlformats.org/officeDocument/2006/relationships" id="2147483648" r:id="Rc784ffda53f54611"/>
  </p:sldMasterIdLst>
  <p:notesMasterIdLst>
    <p:notesMasterId xmlns:r="http://schemas.openxmlformats.org/officeDocument/2006/relationships" r:id="R6f3f50e9ce4743ed"/>
  </p:notesMasterIdLst>
  <p:sldIdLst>
    <p:sldId xmlns:r="http://schemas.openxmlformats.org/officeDocument/2006/relationships" id="256" r:id="R818f97a234334cc4"/>
    <p:sldId xmlns:r="http://schemas.openxmlformats.org/officeDocument/2006/relationships" id="257" r:id="Rc8d194e6c295470d"/>
    <p:sldId xmlns:r="http://schemas.openxmlformats.org/officeDocument/2006/relationships" id="258" r:id="Rd5c8bc73d91b43ad"/>
    <p:sldId xmlns:r="http://schemas.openxmlformats.org/officeDocument/2006/relationships" id="259" r:id="R453b9562191c4011"/>
    <p:sldId xmlns:r="http://schemas.openxmlformats.org/officeDocument/2006/relationships" id="260" r:id="Rc51270a4fb204df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a3ac290a6d847ce" /><Relationship Type="http://schemas.openxmlformats.org/officeDocument/2006/relationships/slideMaster" Target="/ppt/slideMasters/slideMaster1.xml" Id="Rc784ffda53f54611" /><Relationship Type="http://schemas.openxmlformats.org/officeDocument/2006/relationships/notesMaster" Target="/ppt/notesMasters/notesMaster1.xml" Id="R6f3f50e9ce4743ed" /><Relationship Type="http://schemas.openxmlformats.org/officeDocument/2006/relationships/presProps" Target="/ppt/presProps.xml" Id="Re8d749a0420f4f8b" /><Relationship Type="http://schemas.openxmlformats.org/officeDocument/2006/relationships/tableStyles" Target="/ppt/tableStyles.xml" Id="Rdcc99272d0a24bc7" /><Relationship Type="http://schemas.openxmlformats.org/officeDocument/2006/relationships/slide" Target="/ppt/slides/slide1.xml" Id="R818f97a234334cc4" /><Relationship Type="http://schemas.openxmlformats.org/officeDocument/2006/relationships/slide" Target="/ppt/slides/slide2.xml" Id="Rc8d194e6c295470d" /><Relationship Type="http://schemas.openxmlformats.org/officeDocument/2006/relationships/slide" Target="/ppt/slides/slide3.xml" Id="Rd5c8bc73d91b43ad" /><Relationship Type="http://schemas.openxmlformats.org/officeDocument/2006/relationships/slide" Target="/ppt/slides/slide4.xml" Id="R453b9562191c4011" /><Relationship Type="http://schemas.openxmlformats.org/officeDocument/2006/relationships/slide" Target="/ppt/slides/slide5.xml" Id="Rc51270a4fb204df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4c138e962b8478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35124cb1219420b" /><Relationship Type="http://schemas.openxmlformats.org/officeDocument/2006/relationships/notesMaster" Target="/ppt/notesMasters/notesMaster1.xml" Id="Ra2c209be837443a1" /></Relationships>
</file>

<file path=ppt/notesSlides/_rels/notesSlide2.xml.rels>&#65279;<?xml version="1.0" encoding="utf-8"?><Relationships xmlns="http://schemas.openxmlformats.org/package/2006/relationships"><Relationship Type="http://schemas.openxmlformats.org/officeDocument/2006/relationships/slide" Target="/ppt/slides/slide2.xml" Id="R113330b2e117400f" /><Relationship Type="http://schemas.openxmlformats.org/officeDocument/2006/relationships/notesMaster" Target="/ppt/notesMasters/notesMaster1.xml" Id="Raca78725e3664317" /></Relationships>
</file>

<file path=ppt/notesSlides/_rels/notesSlide3.xml.rels>&#65279;<?xml version="1.0" encoding="utf-8"?><Relationships xmlns="http://schemas.openxmlformats.org/package/2006/relationships"><Relationship Type="http://schemas.openxmlformats.org/officeDocument/2006/relationships/slide" Target="/ppt/slides/slide3.xml" Id="R9ae3ff2b51c540f8" /><Relationship Type="http://schemas.openxmlformats.org/officeDocument/2006/relationships/notesMaster" Target="/ppt/notesMasters/notesMaster1.xml" Id="R4d4865bf010f4453" /></Relationships>
</file>

<file path=ppt/notesSlides/_rels/notesSlide4.xml.rels>&#65279;<?xml version="1.0" encoding="utf-8"?><Relationships xmlns="http://schemas.openxmlformats.org/package/2006/relationships"><Relationship Type="http://schemas.openxmlformats.org/officeDocument/2006/relationships/slide" Target="/ppt/slides/slide4.xml" Id="Rea7a645e20164c77" /><Relationship Type="http://schemas.openxmlformats.org/officeDocument/2006/relationships/notesMaster" Target="/ppt/notesMasters/notesMaster1.xml" Id="Rda77ec1add7b4708" /></Relationships>
</file>

<file path=ppt/notesSlides/_rels/notesSlide5.xml.rels>&#65279;<?xml version="1.0" encoding="utf-8"?><Relationships xmlns="http://schemas.openxmlformats.org/package/2006/relationships"><Relationship Type="http://schemas.openxmlformats.org/officeDocument/2006/relationships/slide" Target="/ppt/slides/slide5.xml" Id="R2ebf22e8a5c34060" /><Relationship Type="http://schemas.openxmlformats.org/officeDocument/2006/relationships/notesMaster" Target="/ppt/notesMasters/notesMaster1.xml" Id="R0a7b58de7e554f5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learning promise: this is not a passive equipment tour. It is hands-on rehearsal of the decisions and safety sequence behind nanowire growth. The professor establishes the educational need, Barath Balamurugan presents the implementation as main developer, and Yilin demonstrates the learner experience as a project contributor.</a:t>
            </a:r>
          </a:p>
          <a:p xmlns:a="http://schemas.openxmlformats.org/drawingml/2006/main">
            <a:r>
              <a:t/>
            </a:r>
          </a:p>
          <a:p xmlns:a="http://schemas.openxmlformats.org/drawingml/2006/main">
            <a:r>
              <a:t>[Sources]</a:t>
            </a:r>
          </a:p>
          <a:p xmlns:a="http://schemas.openxmlformats.org/drawingml/2006/main">
            <a:r>
              <a:t>- IEEE challenge theme and submission requirements: https://metaversereality.ieee.org/competition/</a:t>
            </a:r>
          </a:p>
          <a:p xmlns:a="http://schemas.openxmlformats.org/drawingml/2006/main">
            <a:r>
              <a:t>- Project description: README.md in the Lab Space VR repository</a:t>
            </a:r>
          </a:p>
          <a:p xmlns:a="http://schemas.openxmlformats.org/drawingml/2006/main">
            <a:r>
              <a:t>- Hero render: Images/IsoView.jpeg (project-owned asset)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 the educational gap. The difficult part is not recognizing the equipment; it is coordinating interdependent actions and understanding why the sequence matters. Virtual rehearsal avoids using furnace time, process gases, and substrates during early practice.</a:t>
            </a:r>
          </a:p>
          <a:p xmlns:a="http://schemas.openxmlformats.org/drawingml/2006/main">
            <a:r>
              <a:t/>
            </a:r>
          </a:p>
          <a:p xmlns:a="http://schemas.openxmlformats.org/drawingml/2006/main">
            <a:r>
              <a:t>[Sources]</a:t>
            </a:r>
          </a:p>
          <a:p xmlns:a="http://schemas.openxmlformats.org/drawingml/2006/main">
            <a:r>
              <a:t>- Procedure and implementation summary: README.md</a:t>
            </a:r>
          </a:p>
          <a:p xmlns:a="http://schemas.openxmlformats.org/drawingml/2006/main">
            <a:r>
              <a:t>- Procedure state logic: Assets/Scripts/FurnaceProcedureManager.cs</a:t>
            </a:r>
          </a:p>
          <a:p xmlns:a="http://schemas.openxmlformats.org/drawingml/2006/main">
            <a:r>
              <a:t>- Furnace render: Images/FrontView.jpeg (project-owned asset)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learning cycle in three phases. Emphasize that completion is driven by actual state: a placed substrate, a closed lid, sufficient gas flow, valid setpoints, safe cooldown, and successful withdrawal—not by pressing a Next button.</a:t>
            </a:r>
          </a:p>
          <a:p xmlns:a="http://schemas.openxmlformats.org/drawingml/2006/main">
            <a:r>
              <a:t/>
            </a:r>
          </a:p>
          <a:p xmlns:a="http://schemas.openxmlformats.org/drawingml/2006/main">
            <a:r>
              <a:t>[Sources]</a:t>
            </a:r>
          </a:p>
          <a:p xmlns:a="http://schemas.openxmlformats.org/drawingml/2006/main">
            <a:r>
              <a:t>- Target procedure and safety gates: README.md</a:t>
            </a:r>
          </a:p>
          <a:p xmlns:a="http://schemas.openxmlformats.org/drawingml/2006/main">
            <a:r>
              <a:t>- Configurable step list: Assets/Scripts/FurnaceProcedureManager.cs</a:t>
            </a:r>
          </a:p>
          <a:p xmlns:a="http://schemas.openxmlformats.org/drawingml/2006/main">
            <a:r>
              <a:t>- Prototype frames extracted from Videos/SimDemov1.mp4, Videos/Demo_v1.mp4, and Videos/SImDemov3.mp4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implementation from input to feedback. The procedure manager is the source of truth. This is currently a rules-based adaptive system: guidance changes with the learner's state, while invalid conditions pause or block the process. The four-view compositor mirrors the active step; describe physical receiver streaming only if it is stable in the final recording.</a:t>
            </a:r>
          </a:p>
          <a:p xmlns:a="http://schemas.openxmlformats.org/drawingml/2006/main">
            <a:r>
              <a:t/>
            </a:r>
          </a:p>
          <a:p xmlns:a="http://schemas.openxmlformats.org/drawingml/2006/main">
            <a:r>
              <a:t>[Sources]</a:t>
            </a:r>
          </a:p>
          <a:p xmlns:a="http://schemas.openxmlformats.org/drawingml/2006/main">
            <a:r>
              <a:t>- Project technology stack: Packages/manifest.json and ProjectSettings/ProjectVersion.txt</a:t>
            </a:r>
          </a:p>
          <a:p xmlns:a="http://schemas.openxmlformats.org/drawingml/2006/main">
            <a:r>
              <a:t>- State-aware procedure implementation: Assets/Scripts/FurnaceProcedureManager.cs</a:t>
            </a:r>
          </a:p>
          <a:p xmlns:a="http://schemas.openxmlformats.org/drawingml/2006/main">
            <a:r>
              <a:t>- Hologram behavior: README.md and Assets/Scripts/Hologram/</a:t>
            </a:r>
          </a:p>
          <a:p xmlns:a="http://schemas.openxmlformats.org/drawingml/2006/main">
            <a:r>
              <a:t>- Hologram concept image: Artifacts/Blender/four_projector_trapezoid_prism_preview.png (project-owned asset)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professor closes on the educational value. The prototype supports repeatable practice with multiple cue types and adjustable simulation speed. Be explicit that learning-effectiveness validation is the next research step: compare sequence accuracy, safety errors, task completion, and retention before and after VR rehearsal.</a:t>
            </a:r>
          </a:p>
          <a:p xmlns:a="http://schemas.openxmlformats.org/drawingml/2006/main">
            <a:r>
              <a:t/>
            </a:r>
          </a:p>
          <a:p xmlns:a="http://schemas.openxmlformats.org/drawingml/2006/main">
            <a:r>
              <a:t>[Sources]</a:t>
            </a:r>
          </a:p>
          <a:p xmlns:a="http://schemas.openxmlformats.org/drawingml/2006/main">
            <a:r>
              <a:t>- Prototype counts and accessibility features: README.md and Assets/Scripts/FurnaceProcedureManager.cs</a:t>
            </a:r>
          </a:p>
          <a:p xmlns:a="http://schemas.openxmlformats.org/drawingml/2006/main">
            <a:r>
              <a:t>- Project source link: https://github.com/SINRG-Lab/lab-space-vr</a:t>
            </a:r>
          </a:p>
          <a:p xmlns:a="http://schemas.openxmlformats.org/drawingml/2006/main">
            <a:r>
              <a:t>- IEEE judging priorities: https://metaversereality.ieee.org/competition/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16acd3b1e94446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510fd66563f453b" /><Relationship Type="http://schemas.openxmlformats.org/officeDocument/2006/relationships/slideLayout" Target="/ppt/slideLayouts/slideLayout1.xml" Id="R45759a2e6474427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5759a2e6474427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5452314cdba4eb7" /><Relationship Type="http://schemas.openxmlformats.org/officeDocument/2006/relationships/image" Target="/ppt/media/image.jpeg" Id="Rf4fe332c205641d9" /><Relationship Type="http://schemas.openxmlformats.org/officeDocument/2006/relationships/notesSlide" Target="/ppt/notesSlides/notesSlide1.xml" Id="R1173677ef09842a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48324ddfa664c04" /><Relationship Type="http://schemas.openxmlformats.org/officeDocument/2006/relationships/image" Target="/ppt/media/image2.jpeg" Id="R372095e616664633" /><Relationship Type="http://schemas.openxmlformats.org/officeDocument/2006/relationships/notesSlide" Target="/ppt/notesSlides/notesSlide2.xml" Id="Rd9ac96a23f6a488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2780b60128a4900" /><Relationship Type="http://schemas.openxmlformats.org/officeDocument/2006/relationships/image" Target="/ppt/media/image3.jpeg" Id="Rde0c6c9dbf85485b" /><Relationship Type="http://schemas.openxmlformats.org/officeDocument/2006/relationships/image" Target="/ppt/media/image4.jpeg" Id="Rd64bb75166d14b5f" /><Relationship Type="http://schemas.openxmlformats.org/officeDocument/2006/relationships/image" Target="/ppt/media/image5.jpeg" Id="R5f407cab334a4607" /><Relationship Type="http://schemas.openxmlformats.org/officeDocument/2006/relationships/notesSlide" Target="/ppt/notesSlides/notesSlide3.xml" Id="Rf56ec8f8c61e458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77ab5571b894caa" /><Relationship Type="http://schemas.openxmlformats.org/officeDocument/2006/relationships/image" Target="/ppt/media/image.png" Id="Rd7c16fcfce584ca4" /><Relationship Type="http://schemas.openxmlformats.org/officeDocument/2006/relationships/notesSlide" Target="/ppt/notesSlides/notesSlide4.xml" Id="R09ed1aa147a342d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d06b252d8b44c91" /><Relationship Type="http://schemas.openxmlformats.org/officeDocument/2006/relationships/hyperlink" Target="https://github.com/SINRG-Lab/lab-space-vr" TargetMode="External" Id="Rdc688519360240bd" /><Relationship Type="http://schemas.openxmlformats.org/officeDocument/2006/relationships/notesSlide" Target="/ppt/notesSlides/notesSlide5.xml" Id="R572a88ea8ec64daa"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1-eyebrow">
            <a:extLst xmlns:a="http://schemas.openxmlformats.org/drawingml/2006/main">
              <a:ext uri="{FF2B5EF4-FFF2-40B4-BE49-F238E27FC236}">
                <a16:creationId xmlns:a16="http://schemas.microsoft.com/office/drawing/2014/main" id="{0CCC3603-0C0D-4301-B5D5-784AAA56033F}"/>
              </a:ext>
            </a:extLst>
          </p:cNvPr>
          <p:cNvSpPr>
            <a:spLocks xmlns:a="http://schemas.openxmlformats.org/drawingml/2006/main" noGrp="1"/>
          </p:cNvSpPr>
          <p:nvPr/>
        </p:nvSpPr>
        <p:spPr>
          <a:xfrm xmlns:a="http://schemas.openxmlformats.org/drawingml/2006/main">
            <a:off x="514350" y="400050"/>
            <a:ext cx="533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350" b="1">
                <a:solidFill>
                  <a:srgbClr val="1BA7D1"/>
                </a:solidFill>
                <a:latin typeface="Helvetica Neue"/>
                <a:ea typeface="Helvetica Neue"/>
                <a:cs typeface="Helvetica Neue"/>
              </a:defRPr>
            </a:pPr>
            <a:r>
              <a:rPr sz="1350" b="1">
                <a:solidFill>
                  <a:srgbClr val="1BA7D1"/>
                </a:solidFill>
                <a:latin typeface="Helvetica Neue"/>
                <a:ea typeface="Helvetica Neue"/>
                <a:cs typeface="Helvetica Neue"/>
              </a:rPr>
              <a:t>2026 IEEE METAVERSE GRAND CHALLENGE</a:t>
            </a:r>
          </a:p>
        </p:txBody>
      </p:sp>
      <p:sp>
        <p:nvSpPr>
          <p:cNvPr id="2" name="s1-title">
            <a:extLst xmlns:a="http://schemas.openxmlformats.org/drawingml/2006/main">
              <a:ext uri="{FF2B5EF4-FFF2-40B4-BE49-F238E27FC236}">
                <a16:creationId xmlns:a16="http://schemas.microsoft.com/office/drawing/2014/main" id="{2F69AAB3-19D8-4B86-877A-2C7AF6E58BCE}"/>
              </a:ext>
            </a:extLst>
          </p:cNvPr>
          <p:cNvSpPr>
            <a:spLocks xmlns:a="http://schemas.openxmlformats.org/drawingml/2006/main" noGrp="1"/>
          </p:cNvSpPr>
          <p:nvPr/>
        </p:nvSpPr>
        <p:spPr>
          <a:xfrm xmlns:a="http://schemas.openxmlformats.org/drawingml/2006/main">
            <a:off x="514350" y="1047750"/>
            <a:ext cx="5334000" cy="2266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0824"/>
          </a:bodyPr>
          <a:lstStyle xmlns:a="http://schemas.openxmlformats.org/drawingml/2006/main"/>
          <a:p xmlns:a="http://schemas.openxmlformats.org/drawingml/2006/main">
            <a:pPr algn="l">
              <a:lnSpc>
                <a:spcPct val="88000"/>
              </a:lnSpc>
              <a:buNone/>
              <a:defRPr sz="5250" b="1">
                <a:solidFill>
                  <a:srgbClr val="050505"/>
                </a:solidFill>
                <a:latin typeface="Helvetica Neue"/>
                <a:ea typeface="Helvetica Neue"/>
                <a:cs typeface="Helvetica Neue"/>
              </a:defRPr>
            </a:pPr>
            <a:r>
              <a:rPr sz="5250" b="1">
                <a:solidFill>
                  <a:srgbClr val="050505"/>
                </a:solidFill>
                <a:latin typeface="Helvetica Neue"/>
                <a:ea typeface="Helvetica Neue"/>
                <a:cs typeface="Helvetica Neue"/>
              </a:rPr>
              <a:t>Practice nanowire growth before touching the furnace</a:t>
            </a:r>
          </a:p>
        </p:txBody>
      </p:sp>
      <p:sp>
        <p:nvSpPr>
          <p:cNvPr id="3" name="s1-subtitle">
            <a:extLst xmlns:a="http://schemas.openxmlformats.org/drawingml/2006/main">
              <a:ext uri="{FF2B5EF4-FFF2-40B4-BE49-F238E27FC236}">
                <a16:creationId xmlns:a16="http://schemas.microsoft.com/office/drawing/2014/main" id="{19BB1ACF-2153-4367-A91F-AC38DED35256}"/>
              </a:ext>
            </a:extLst>
          </p:cNvPr>
          <p:cNvSpPr>
            <a:spLocks xmlns:a="http://schemas.openxmlformats.org/drawingml/2006/main" noGrp="1"/>
          </p:cNvSpPr>
          <p:nvPr/>
        </p:nvSpPr>
        <p:spPr>
          <a:xfrm xmlns:a="http://schemas.openxmlformats.org/drawingml/2006/main">
            <a:off x="514350" y="3676650"/>
            <a:ext cx="50482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100" b="0">
                <a:solidFill>
                  <a:srgbClr val="5D6670"/>
                </a:solidFill>
                <a:latin typeface="Helvetica Neue"/>
                <a:ea typeface="Helvetica Neue"/>
                <a:cs typeface="Helvetica Neue"/>
              </a:defRPr>
            </a:pPr>
            <a:r>
              <a:rPr sz="2100" b="0">
                <a:solidFill>
                  <a:srgbClr val="5D6670"/>
                </a:solidFill>
                <a:latin typeface="Helvetica Neue"/>
                <a:ea typeface="Helvetica Neue"/>
                <a:cs typeface="Helvetica Neue"/>
              </a:rPr>
              <a:t>LabSpace VR transforms a complex split-tube furnace protocol into guided, hand-tracked practice.</a:t>
            </a:r>
          </a:p>
        </p:txBody>
      </p:sp>
      <p:sp>
        <p:nvSpPr>
          <p:cNvPr id="4" name="s1-theme-rule">
            <a:extLst xmlns:a="http://schemas.openxmlformats.org/drawingml/2006/main">
              <a:ext uri="{FF2B5EF4-FFF2-40B4-BE49-F238E27FC236}">
                <a16:creationId xmlns:a16="http://schemas.microsoft.com/office/drawing/2014/main" id="{7E6F9B54-7BDD-4345-BDC1-B9F64F618527}"/>
              </a:ext>
            </a:extLst>
          </p:cNvPr>
          <p:cNvSpPr>
            <a:spLocks xmlns:a="http://schemas.openxmlformats.org/drawingml/2006/main" noGrp="1"/>
          </p:cNvSpPr>
          <p:nvPr/>
        </p:nvSpPr>
        <p:spPr>
          <a:xfrm xmlns:a="http://schemas.openxmlformats.org/drawingml/2006/main">
            <a:off x="514350" y="5143500"/>
            <a:ext cx="800100" cy="47625"/>
          </a:xfrm>
          <a:prstGeom xmlns:a="http://schemas.openxmlformats.org/drawingml/2006/main" prst="rect">
            <a:avLst/>
          </a:prstGeom>
          <a:solidFill xmlns:a="http://schemas.openxmlformats.org/drawingml/2006/main">
            <a:srgbClr val="1BA7D1"/>
          </a:solidFill>
          <a:ln xmlns:a="http://schemas.openxmlformats.org/drawingml/2006/main" w="0">
            <a:noFill/>
            <a:prstDash val="solid"/>
          </a:ln>
        </p:spPr>
      </p:sp>
      <p:sp>
        <p:nvSpPr>
          <p:cNvPr id="5" name="s1-theme">
            <a:extLst xmlns:a="http://schemas.openxmlformats.org/drawingml/2006/main">
              <a:ext uri="{FF2B5EF4-FFF2-40B4-BE49-F238E27FC236}">
                <a16:creationId xmlns:a16="http://schemas.microsoft.com/office/drawing/2014/main" id="{E5E8E9C3-11C0-4CFC-B7E7-6DC11697067F}"/>
              </a:ext>
            </a:extLst>
          </p:cNvPr>
          <p:cNvSpPr>
            <a:spLocks xmlns:a="http://schemas.openxmlformats.org/drawingml/2006/main" noGrp="1"/>
          </p:cNvSpPr>
          <p:nvPr/>
        </p:nvSpPr>
        <p:spPr>
          <a:xfrm xmlns:a="http://schemas.openxmlformats.org/drawingml/2006/main">
            <a:off x="514350" y="5334000"/>
            <a:ext cx="5048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1">
                <a:solidFill>
                  <a:srgbClr val="050505"/>
                </a:solidFill>
                <a:latin typeface="Helvetica Neue"/>
                <a:ea typeface="Helvetica Neue"/>
                <a:cs typeface="Helvetica Neue"/>
              </a:defRPr>
            </a:pPr>
            <a:r>
              <a:rPr sz="1500" b="1">
                <a:solidFill>
                  <a:srgbClr val="050505"/>
                </a:solidFill>
                <a:latin typeface="Helvetica Neue"/>
                <a:ea typeface="Helvetica Neue"/>
                <a:cs typeface="Helvetica Neue"/>
              </a:rPr>
              <a:t>THEME 3</a:t>
            </a:r>
          </a:p>
          <a:p xmlns:a="http://schemas.openxmlformats.org/drawingml/2006/main">
            <a:pPr algn="l">
              <a:lnSpc>
                <a:spcPct val="100000"/>
              </a:lnSpc>
              <a:buNone/>
              <a:defRPr sz="1500" b="1">
                <a:solidFill>
                  <a:srgbClr val="050505"/>
                </a:solidFill>
                <a:latin typeface="Helvetica Neue"/>
                <a:ea typeface="Helvetica Neue"/>
                <a:cs typeface="Helvetica Neue"/>
              </a:defRPr>
            </a:pPr>
            <a:r>
              <a:rPr sz="1500" b="1">
                <a:solidFill>
                  <a:srgbClr val="050505"/>
                </a:solidFill>
                <a:latin typeface="Helvetica Neue"/>
                <a:ea typeface="Helvetica Neue"/>
                <a:cs typeface="Helvetica Neue"/>
              </a:rPr>
              <a:t>Advanced Learning in Educational or Classroom Environments</a:t>
            </a:r>
          </a:p>
        </p:txBody>
      </p:sp>
      <p:sp>
        <p:nvSpPr>
          <p:cNvPr id="6" name="s1-author">
            <a:extLst xmlns:a="http://schemas.openxmlformats.org/drawingml/2006/main">
              <a:ext uri="{FF2B5EF4-FFF2-40B4-BE49-F238E27FC236}">
                <a16:creationId xmlns:a16="http://schemas.microsoft.com/office/drawing/2014/main" id="{9860BF3A-5449-4F77-9F43-6B4F53DAB735}"/>
              </a:ext>
            </a:extLst>
          </p:cNvPr>
          <p:cNvSpPr>
            <a:spLocks xmlns:a="http://schemas.openxmlformats.org/drawingml/2006/main" noGrp="1"/>
          </p:cNvSpPr>
          <p:nvPr/>
        </p:nvSpPr>
        <p:spPr>
          <a:xfrm xmlns:a="http://schemas.openxmlformats.org/drawingml/2006/main">
            <a:off x="514350" y="6229350"/>
            <a:ext cx="504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200" b="0">
                <a:solidFill>
                  <a:srgbClr val="5D6670"/>
                </a:solidFill>
                <a:latin typeface="Helvetica Neue"/>
                <a:ea typeface="Helvetica Neue"/>
                <a:cs typeface="Helvetica Neue"/>
              </a:defRPr>
            </a:pPr>
            <a:r>
              <a:rPr sz="1200" b="0">
                <a:solidFill>
                  <a:srgbClr val="5D6670"/>
                </a:solidFill>
                <a:latin typeface="Helvetica Neue"/>
                <a:ea typeface="Helvetica Neue"/>
                <a:cs typeface="Helvetica Neue"/>
              </a:rPr>
              <a:t>LabSpace VR Team  •  Northeastern University</a:t>
            </a:r>
          </a:p>
        </p:txBody>
      </p:sp>
      <p:sp>
        <p:nvSpPr>
          <p:cNvPr id="7" name="s1-image-backing">
            <a:extLst xmlns:a="http://schemas.openxmlformats.org/drawingml/2006/main">
              <a:ext uri="{FF2B5EF4-FFF2-40B4-BE49-F238E27FC236}">
                <a16:creationId xmlns:a16="http://schemas.microsoft.com/office/drawing/2014/main" id="{4C125D5E-FADD-4FCD-8CA1-D5A99D058CFC}"/>
              </a:ext>
            </a:extLst>
          </p:cNvPr>
          <p:cNvSpPr>
            <a:spLocks xmlns:a="http://schemas.openxmlformats.org/drawingml/2006/main" noGrp="1"/>
          </p:cNvSpPr>
          <p:nvPr/>
        </p:nvSpPr>
        <p:spPr>
          <a:xfrm xmlns:a="http://schemas.openxmlformats.org/drawingml/2006/main">
            <a:off x="6115050" y="361950"/>
            <a:ext cx="5562600" cy="5753100"/>
          </a:xfrm>
          <a:prstGeom xmlns:a="http://schemas.openxmlformats.org/drawingml/2006/main" prst="roundRect">
            <a:avLst>
              <a:gd name="adj" fmla="val 2397"/>
            </a:avLst>
          </a:prstGeom>
          <a:solidFill xmlns:a="http://schemas.openxmlformats.org/drawingml/2006/main">
            <a:srgbClr val="101417"/>
          </a:solidFill>
          <a:ln xmlns:a="http://schemas.openxmlformats.org/drawingml/2006/main" w="9525">
            <a:solidFill>
              <a:srgbClr val="B8BCC4"/>
            </a:solidFill>
            <a:prstDash val="solid"/>
          </a:ln>
        </p:spPr>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f4fe332c205641d9"/>
          <a:srcRect xmlns:a="http://schemas.openxmlformats.org/drawingml/2006/main" l="179" t="0" r="179" b="0"/>
          <a:stretch xmlns:a="http://schemas.openxmlformats.org/drawingml/2006/main">
            <a:fillRect l="0" t="0" r="0" b="0"/>
          </a:stretch>
        </p:blipFill>
        <p:spPr>
          <a:xfrm xmlns:a="http://schemas.openxmlformats.org/drawingml/2006/main">
            <a:off x="6115050" y="361950"/>
            <a:ext cx="5562600" cy="5753100"/>
          </a:xfrm>
          <a:prstGeom xmlns:a="http://schemas.openxmlformats.org/drawingml/2006/main" prst="roundRect">
            <a:avLst>
              <a:gd name="adj" fmla="val 2397"/>
            </a:avLst>
          </a:prstGeom>
        </p:spPr>
      </p:pic>
    </p:spTree>
    <p:extLst>
      <p:ext uri="{BB962C8B-B14F-4D97-AF65-F5344CB8AC3E}">
        <p14:creationId xmlns:p14="http://schemas.microsoft.com/office/powerpoint/2010/main" val="33857248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lide-2-title">
            <a:extLst xmlns:a="http://schemas.openxmlformats.org/drawingml/2006/main">
              <a:ext uri="{FF2B5EF4-FFF2-40B4-BE49-F238E27FC236}">
                <a16:creationId xmlns:a16="http://schemas.microsoft.com/office/drawing/2014/main" id="{C80C4043-C6D1-4050-88A1-663BC21245FF}"/>
              </a:ext>
            </a:extLst>
          </p:cNvPr>
          <p:cNvSpPr>
            <a:spLocks xmlns:a="http://schemas.openxmlformats.org/drawingml/2006/main" noGrp="1"/>
          </p:cNvSpPr>
          <p:nvPr/>
        </p:nvSpPr>
        <p:spPr>
          <a:xfrm xmlns:a="http://schemas.openxmlformats.org/drawingml/2006/main">
            <a:off x="514350" y="342900"/>
            <a:ext cx="111633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647"/>
          </a:bodyPr>
          <a:lstStyle xmlns:a="http://schemas.openxmlformats.org/drawingml/2006/main"/>
          <a:p xmlns:a="http://schemas.openxmlformats.org/drawingml/2006/main">
            <a:pPr algn="l">
              <a:lnSpc>
                <a:spcPct val="94000"/>
              </a:lnSpc>
              <a:buNone/>
              <a:defRPr sz="3600" b="1">
                <a:solidFill>
                  <a:srgbClr val="050505"/>
                </a:solidFill>
                <a:latin typeface="Helvetica Neue"/>
                <a:ea typeface="Helvetica Neue"/>
                <a:cs typeface="Helvetica Neue"/>
              </a:defRPr>
            </a:pPr>
            <a:r>
              <a:rPr sz="3600" b="1">
                <a:solidFill>
                  <a:srgbClr val="050505"/>
                </a:solidFill>
                <a:latin typeface="Helvetica Neue"/>
                <a:ea typeface="Helvetica Neue"/>
                <a:cs typeface="Helvetica Neue"/>
              </a:rPr>
              <a:t>A protocol alone cannot teach coordinated lab judgment</a:t>
            </a:r>
          </a:p>
        </p:txBody>
      </p:sp>
      <p:sp>
        <p:nvSpPr>
          <p:cNvPr id="2" name="slide-2-accent">
            <a:extLst xmlns:a="http://schemas.openxmlformats.org/drawingml/2006/main">
              <a:ext uri="{FF2B5EF4-FFF2-40B4-BE49-F238E27FC236}">
                <a16:creationId xmlns:a16="http://schemas.microsoft.com/office/drawing/2014/main" id="{4C7B163C-FC66-4997-A7EE-0FAFB1F8402F}"/>
              </a:ext>
            </a:extLst>
          </p:cNvPr>
          <p:cNvSpPr>
            <a:spLocks xmlns:a="http://schemas.openxmlformats.org/drawingml/2006/main" noGrp="1"/>
          </p:cNvSpPr>
          <p:nvPr/>
        </p:nvSpPr>
        <p:spPr>
          <a:xfrm xmlns:a="http://schemas.openxmlformats.org/drawingml/2006/main">
            <a:off x="514350" y="1162050"/>
            <a:ext cx="914400" cy="47625"/>
          </a:xfrm>
          <a:prstGeom xmlns:a="http://schemas.openxmlformats.org/drawingml/2006/main" prst="rect">
            <a:avLst/>
          </a:prstGeom>
          <a:solidFill xmlns:a="http://schemas.openxmlformats.org/drawingml/2006/main">
            <a:srgbClr val="1BA7D1"/>
          </a:solidFill>
          <a:ln xmlns:a="http://schemas.openxmlformats.org/drawingml/2006/main" w="0">
            <a:noFill/>
            <a:prstDash val="solid"/>
          </a:ln>
        </p:spPr>
      </p:sp>
      <p:sp>
        <p:nvSpPr>
          <p:cNvPr id="3" name="s2-lead">
            <a:extLst xmlns:a="http://schemas.openxmlformats.org/drawingml/2006/main">
              <a:ext uri="{FF2B5EF4-FFF2-40B4-BE49-F238E27FC236}">
                <a16:creationId xmlns:a16="http://schemas.microsoft.com/office/drawing/2014/main" id="{FE8ED506-F1A0-4376-8871-106FE2D7A6CE}"/>
              </a:ext>
            </a:extLst>
          </p:cNvPr>
          <p:cNvSpPr>
            <a:spLocks xmlns:a="http://schemas.openxmlformats.org/drawingml/2006/main" noGrp="1"/>
          </p:cNvSpPr>
          <p:nvPr/>
        </p:nvSpPr>
        <p:spPr>
          <a:xfrm xmlns:a="http://schemas.openxmlformats.org/drawingml/2006/main">
            <a:off x="514350" y="1581150"/>
            <a:ext cx="49530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774"/>
          </a:bodyPr>
          <a:lstStyle xmlns:a="http://schemas.openxmlformats.org/drawingml/2006/main"/>
          <a:p xmlns:a="http://schemas.openxmlformats.org/drawingml/2006/main">
            <a:pPr algn="l">
              <a:lnSpc>
                <a:spcPct val="100000"/>
              </a:lnSpc>
              <a:buNone/>
              <a:defRPr sz="2325" b="1">
                <a:solidFill>
                  <a:srgbClr val="050505"/>
                </a:solidFill>
                <a:latin typeface="Helvetica Neue"/>
                <a:ea typeface="Helvetica Neue"/>
                <a:cs typeface="Helvetica Neue"/>
              </a:defRPr>
            </a:pPr>
            <a:r>
              <a:rPr sz="2325" b="1">
                <a:solidFill>
                  <a:srgbClr val="050505"/>
                </a:solidFill>
                <a:latin typeface="Helvetica Neue"/>
                <a:ea typeface="Helvetica Neue"/>
                <a:cs typeface="Helvetica Neue"/>
              </a:rPr>
              <a:t>Learners must manage sequence, safety conditions, and process response at the same time.</a:t>
            </a:r>
          </a:p>
        </p:txBody>
      </p:sp>
      <p:sp>
        <p:nvSpPr>
          <p:cNvPr id="4" name="s2-b1-num">
            <a:extLst xmlns:a="http://schemas.openxmlformats.org/drawingml/2006/main">
              <a:ext uri="{FF2B5EF4-FFF2-40B4-BE49-F238E27FC236}">
                <a16:creationId xmlns:a16="http://schemas.microsoft.com/office/drawing/2014/main" id="{7A7350A5-661D-4A9C-A81D-DA0A81684E50}"/>
              </a:ext>
            </a:extLst>
          </p:cNvPr>
          <p:cNvSpPr>
            <a:spLocks xmlns:a="http://schemas.openxmlformats.org/drawingml/2006/main" noGrp="1"/>
          </p:cNvSpPr>
          <p:nvPr/>
        </p:nvSpPr>
        <p:spPr>
          <a:xfrm xmlns:a="http://schemas.openxmlformats.org/drawingml/2006/main">
            <a:off x="514350" y="2990850"/>
            <a:ext cx="533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875" b="1">
                <a:solidFill>
                  <a:srgbClr val="1BA7D1"/>
                </a:solidFill>
                <a:latin typeface="Helvetica Neue"/>
                <a:ea typeface="Helvetica Neue"/>
                <a:cs typeface="Helvetica Neue"/>
              </a:defRPr>
            </a:pPr>
            <a:r>
              <a:rPr sz="1875" b="1">
                <a:solidFill>
                  <a:srgbClr val="1BA7D1"/>
                </a:solidFill>
                <a:latin typeface="Helvetica Neue"/>
                <a:ea typeface="Helvetica Neue"/>
                <a:cs typeface="Helvetica Neue"/>
              </a:rPr>
              <a:t>01</a:t>
            </a:r>
          </a:p>
        </p:txBody>
      </p:sp>
      <p:sp>
        <p:nvSpPr>
          <p:cNvPr id="5" name="s2-b1">
            <a:extLst xmlns:a="http://schemas.openxmlformats.org/drawingml/2006/main">
              <a:ext uri="{FF2B5EF4-FFF2-40B4-BE49-F238E27FC236}">
                <a16:creationId xmlns:a16="http://schemas.microsoft.com/office/drawing/2014/main" id="{EA7E68FF-E079-4512-98FA-5F580AB46AA6}"/>
              </a:ext>
            </a:extLst>
          </p:cNvPr>
          <p:cNvSpPr>
            <a:spLocks xmlns:a="http://schemas.openxmlformats.org/drawingml/2006/main" noGrp="1"/>
          </p:cNvSpPr>
          <p:nvPr/>
        </p:nvSpPr>
        <p:spPr>
          <a:xfrm xmlns:a="http://schemas.openxmlformats.org/drawingml/2006/main">
            <a:off x="1123950" y="2924175"/>
            <a:ext cx="4286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650" b="0">
                <a:solidFill>
                  <a:srgbClr val="050505"/>
                </a:solidFill>
                <a:latin typeface="Helvetica Neue"/>
                <a:ea typeface="Helvetica Neue"/>
                <a:cs typeface="Helvetica Neue"/>
              </a:defRPr>
            </a:pPr>
            <a:r>
              <a:rPr sz="1650" b="0">
                <a:solidFill>
                  <a:srgbClr val="050505"/>
                </a:solidFill>
                <a:latin typeface="Helvetica Neue"/>
                <a:ea typeface="Helvetica Neue"/>
                <a:cs typeface="Helvetica Neue"/>
              </a:rPr>
              <a:t>Load and position a substrate through a constrained feed mechanism.</a:t>
            </a:r>
          </a:p>
        </p:txBody>
      </p:sp>
      <p:sp>
        <p:nvSpPr>
          <p:cNvPr id="6" name="s2-b2-num">
            <a:extLst xmlns:a="http://schemas.openxmlformats.org/drawingml/2006/main">
              <a:ext uri="{FF2B5EF4-FFF2-40B4-BE49-F238E27FC236}">
                <a16:creationId xmlns:a16="http://schemas.microsoft.com/office/drawing/2014/main" id="{D15B4CCD-3587-43A2-9616-CEB1A0B87F01}"/>
              </a:ext>
            </a:extLst>
          </p:cNvPr>
          <p:cNvSpPr>
            <a:spLocks xmlns:a="http://schemas.openxmlformats.org/drawingml/2006/main" noGrp="1"/>
          </p:cNvSpPr>
          <p:nvPr/>
        </p:nvSpPr>
        <p:spPr>
          <a:xfrm xmlns:a="http://schemas.openxmlformats.org/drawingml/2006/main">
            <a:off x="514350" y="3905250"/>
            <a:ext cx="533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875" b="1">
                <a:solidFill>
                  <a:srgbClr val="1BA7D1"/>
                </a:solidFill>
                <a:latin typeface="Helvetica Neue"/>
                <a:ea typeface="Helvetica Neue"/>
                <a:cs typeface="Helvetica Neue"/>
              </a:defRPr>
            </a:pPr>
            <a:r>
              <a:rPr sz="1875" b="1">
                <a:solidFill>
                  <a:srgbClr val="1BA7D1"/>
                </a:solidFill>
                <a:latin typeface="Helvetica Neue"/>
                <a:ea typeface="Helvetica Neue"/>
                <a:cs typeface="Helvetica Neue"/>
              </a:rPr>
              <a:t>02</a:t>
            </a:r>
          </a:p>
        </p:txBody>
      </p:sp>
      <p:sp>
        <p:nvSpPr>
          <p:cNvPr id="7" name="s2-b2">
            <a:extLst xmlns:a="http://schemas.openxmlformats.org/drawingml/2006/main">
              <a:ext uri="{FF2B5EF4-FFF2-40B4-BE49-F238E27FC236}">
                <a16:creationId xmlns:a16="http://schemas.microsoft.com/office/drawing/2014/main" id="{DB984C87-1CFA-4FB7-BF36-CF4E5F63246D}"/>
              </a:ext>
            </a:extLst>
          </p:cNvPr>
          <p:cNvSpPr>
            <a:spLocks xmlns:a="http://schemas.openxmlformats.org/drawingml/2006/main" noGrp="1"/>
          </p:cNvSpPr>
          <p:nvPr/>
        </p:nvSpPr>
        <p:spPr>
          <a:xfrm xmlns:a="http://schemas.openxmlformats.org/drawingml/2006/main">
            <a:off x="1123950" y="3838575"/>
            <a:ext cx="4286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650" b="0">
                <a:solidFill>
                  <a:srgbClr val="050505"/>
                </a:solidFill>
                <a:latin typeface="Helvetica Neue"/>
                <a:ea typeface="Helvetica Neue"/>
                <a:cs typeface="Helvetica Neue"/>
              </a:defRPr>
            </a:pPr>
            <a:r>
              <a:rPr sz="1650" b="0">
                <a:solidFill>
                  <a:srgbClr val="050505"/>
                </a:solidFill>
                <a:latin typeface="Helvetica Neue"/>
                <a:ea typeface="Helvetica Neue"/>
                <a:cs typeface="Helvetica Neue"/>
              </a:rPr>
              <a:t>Coordinate gas flow, three temperature zones, ramp, soak, and growth.</a:t>
            </a:r>
          </a:p>
        </p:txBody>
      </p:sp>
      <p:sp>
        <p:nvSpPr>
          <p:cNvPr id="8" name="s2-b3-num">
            <a:extLst xmlns:a="http://schemas.openxmlformats.org/drawingml/2006/main">
              <a:ext uri="{FF2B5EF4-FFF2-40B4-BE49-F238E27FC236}">
                <a16:creationId xmlns:a16="http://schemas.microsoft.com/office/drawing/2014/main" id="{26AD9156-6407-4980-897F-456C2C893541}"/>
              </a:ext>
            </a:extLst>
          </p:cNvPr>
          <p:cNvSpPr>
            <a:spLocks xmlns:a="http://schemas.openxmlformats.org/drawingml/2006/main" noGrp="1"/>
          </p:cNvSpPr>
          <p:nvPr/>
        </p:nvSpPr>
        <p:spPr>
          <a:xfrm xmlns:a="http://schemas.openxmlformats.org/drawingml/2006/main">
            <a:off x="514350" y="4838700"/>
            <a:ext cx="533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875" b="1">
                <a:solidFill>
                  <a:srgbClr val="1BA7D1"/>
                </a:solidFill>
                <a:latin typeface="Helvetica Neue"/>
                <a:ea typeface="Helvetica Neue"/>
                <a:cs typeface="Helvetica Neue"/>
              </a:defRPr>
            </a:pPr>
            <a:r>
              <a:rPr sz="1875" b="1">
                <a:solidFill>
                  <a:srgbClr val="1BA7D1"/>
                </a:solidFill>
                <a:latin typeface="Helvetica Neue"/>
                <a:ea typeface="Helvetica Neue"/>
                <a:cs typeface="Helvetica Neue"/>
              </a:rPr>
              <a:t>03</a:t>
            </a:r>
          </a:p>
        </p:txBody>
      </p:sp>
      <p:sp>
        <p:nvSpPr>
          <p:cNvPr id="9" name="s2-b3">
            <a:extLst xmlns:a="http://schemas.openxmlformats.org/drawingml/2006/main">
              <a:ext uri="{FF2B5EF4-FFF2-40B4-BE49-F238E27FC236}">
                <a16:creationId xmlns:a16="http://schemas.microsoft.com/office/drawing/2014/main" id="{B04A46EE-792D-4A98-8F7B-48FA2454DE5B}"/>
              </a:ext>
            </a:extLst>
          </p:cNvPr>
          <p:cNvSpPr>
            <a:spLocks xmlns:a="http://schemas.openxmlformats.org/drawingml/2006/main" noGrp="1"/>
          </p:cNvSpPr>
          <p:nvPr/>
        </p:nvSpPr>
        <p:spPr>
          <a:xfrm xmlns:a="http://schemas.openxmlformats.org/drawingml/2006/main">
            <a:off x="1123950" y="4772025"/>
            <a:ext cx="4286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650" b="0">
                <a:solidFill>
                  <a:srgbClr val="050505"/>
                </a:solidFill>
                <a:latin typeface="Helvetica Neue"/>
                <a:ea typeface="Helvetica Neue"/>
                <a:cs typeface="Helvetica Neue"/>
              </a:defRPr>
            </a:pPr>
            <a:r>
              <a:rPr sz="1650" b="0">
                <a:solidFill>
                  <a:srgbClr val="050505"/>
                </a:solidFill>
                <a:latin typeface="Helvetica Neue"/>
                <a:ea typeface="Helvetica Neue"/>
                <a:cs typeface="Helvetica Neue"/>
              </a:rPr>
              <a:t>Cool to a safe state, withdraw the sample, and reset correctly.</a:t>
            </a:r>
          </a:p>
        </p:txBody>
      </p:sp>
      <p:sp>
        <p:nvSpPr>
          <p:cNvPr id="10" name="s2-callout-bg">
            <a:extLst xmlns:a="http://schemas.openxmlformats.org/drawingml/2006/main">
              <a:ext uri="{FF2B5EF4-FFF2-40B4-BE49-F238E27FC236}">
                <a16:creationId xmlns:a16="http://schemas.microsoft.com/office/drawing/2014/main" id="{CBA579B7-2AB9-42AE-B394-33E1D856FCD3}"/>
              </a:ext>
            </a:extLst>
          </p:cNvPr>
          <p:cNvSpPr>
            <a:spLocks xmlns:a="http://schemas.openxmlformats.org/drawingml/2006/main" noGrp="1"/>
          </p:cNvSpPr>
          <p:nvPr/>
        </p:nvSpPr>
        <p:spPr>
          <a:xfrm xmlns:a="http://schemas.openxmlformats.org/drawingml/2006/main">
            <a:off x="514350" y="5676900"/>
            <a:ext cx="4953000" cy="552450"/>
          </a:xfrm>
          <a:prstGeom xmlns:a="http://schemas.openxmlformats.org/drawingml/2006/main" prst="rect">
            <a:avLst/>
          </a:prstGeom>
          <a:solidFill xmlns:a="http://schemas.openxmlformats.org/drawingml/2006/main">
            <a:srgbClr val="F6F7F8"/>
          </a:solidFill>
          <a:ln xmlns:a="http://schemas.openxmlformats.org/drawingml/2006/main" w="0">
            <a:noFill/>
            <a:prstDash val="solid"/>
          </a:ln>
        </p:spPr>
      </p:sp>
      <p:sp>
        <p:nvSpPr>
          <p:cNvPr id="11" name="s2-callout">
            <a:extLst xmlns:a="http://schemas.openxmlformats.org/drawingml/2006/main">
              <a:ext uri="{FF2B5EF4-FFF2-40B4-BE49-F238E27FC236}">
                <a16:creationId xmlns:a16="http://schemas.microsoft.com/office/drawing/2014/main" id="{42F20C8E-3141-488F-9EA5-7FAB41510BB6}"/>
              </a:ext>
            </a:extLst>
          </p:cNvPr>
          <p:cNvSpPr>
            <a:spLocks xmlns:a="http://schemas.openxmlformats.org/drawingml/2006/main" noGrp="1"/>
          </p:cNvSpPr>
          <p:nvPr/>
        </p:nvSpPr>
        <p:spPr>
          <a:xfrm xmlns:a="http://schemas.openxmlformats.org/drawingml/2006/main">
            <a:off x="685800" y="5810250"/>
            <a:ext cx="4610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7160"/>
          </a:bodyPr>
          <a:lstStyle xmlns:a="http://schemas.openxmlformats.org/drawingml/2006/main"/>
          <a:p xmlns:a="http://schemas.openxmlformats.org/drawingml/2006/main">
            <a:pPr algn="l">
              <a:lnSpc>
                <a:spcPct val="102000"/>
              </a:lnSpc>
              <a:buNone/>
              <a:defRPr sz="1350" b="1">
                <a:solidFill>
                  <a:srgbClr val="101417"/>
                </a:solidFill>
                <a:latin typeface="Helvetica Neue"/>
                <a:ea typeface="Helvetica Neue"/>
                <a:cs typeface="Helvetica Neue"/>
              </a:defRPr>
            </a:pPr>
            <a:r>
              <a:rPr sz="1350" b="1">
                <a:solidFill>
                  <a:srgbClr val="101417"/>
                </a:solidFill>
                <a:latin typeface="Helvetica Neue"/>
                <a:ea typeface="Helvetica Neue"/>
                <a:cs typeface="Helvetica Neue"/>
              </a:rPr>
              <a:t>VR makes the whole cycle repeatable before scarce equipment and consumables are involved.</a:t>
            </a:r>
          </a:p>
        </p:txBody>
      </p:sp>
      <p:sp>
        <p:nvSpPr>
          <p:cNvPr id="12" name="s2-image-bg">
            <a:extLst xmlns:a="http://schemas.openxmlformats.org/drawingml/2006/main">
              <a:ext uri="{FF2B5EF4-FFF2-40B4-BE49-F238E27FC236}">
                <a16:creationId xmlns:a16="http://schemas.microsoft.com/office/drawing/2014/main" id="{DD4ACD81-7AB0-4B67-ACFB-44BF09CA6511}"/>
              </a:ext>
            </a:extLst>
          </p:cNvPr>
          <p:cNvSpPr>
            <a:spLocks xmlns:a="http://schemas.openxmlformats.org/drawingml/2006/main" noGrp="1"/>
          </p:cNvSpPr>
          <p:nvPr/>
        </p:nvSpPr>
        <p:spPr>
          <a:xfrm xmlns:a="http://schemas.openxmlformats.org/drawingml/2006/main">
            <a:off x="5886450" y="1581150"/>
            <a:ext cx="5791200" cy="4648200"/>
          </a:xfrm>
          <a:prstGeom xmlns:a="http://schemas.openxmlformats.org/drawingml/2006/main" prst="roundRect">
            <a:avLst>
              <a:gd name="adj" fmla="val 2459"/>
            </a:avLst>
          </a:prstGeom>
          <a:solidFill xmlns:a="http://schemas.openxmlformats.org/drawingml/2006/main">
            <a:srgbClr val="101417"/>
          </a:solidFill>
          <a:ln xmlns:a="http://schemas.openxmlformats.org/drawingml/2006/main" w="9525">
            <a:solidFill>
              <a:srgbClr val="B8BCC4"/>
            </a:solidFill>
            <a:prstDash val="solid"/>
          </a:ln>
        </p:spPr>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372095e616664633"/>
          <a:srcRect xmlns:a="http://schemas.openxmlformats.org/drawingml/2006/main" l="7845" t="0" r="7845" b="0"/>
          <a:stretch xmlns:a="http://schemas.openxmlformats.org/drawingml/2006/main">
            <a:fillRect l="0" t="0" r="0" b="0"/>
          </a:stretch>
        </p:blipFill>
        <p:spPr>
          <a:xfrm xmlns:a="http://schemas.openxmlformats.org/drawingml/2006/main">
            <a:off x="5886450" y="1581150"/>
            <a:ext cx="5791200" cy="4648200"/>
          </a:xfrm>
          <a:prstGeom xmlns:a="http://schemas.openxmlformats.org/drawingml/2006/main" prst="roundRect">
            <a:avLst>
              <a:gd name="adj" fmla="val 2459"/>
            </a:avLst>
          </a:prstGeom>
        </p:spPr>
      </p:pic>
      <p:sp>
        <p:nvSpPr>
          <p:cNvPr id="14" name="slide-2-footer-left">
            <a:extLst xmlns:a="http://schemas.openxmlformats.org/drawingml/2006/main">
              <a:ext uri="{FF2B5EF4-FFF2-40B4-BE49-F238E27FC236}">
                <a16:creationId xmlns:a16="http://schemas.microsoft.com/office/drawing/2014/main" id="{4CF5727E-CE30-466B-BF06-A1FDBD4F7732}"/>
              </a:ext>
            </a:extLst>
          </p:cNvPr>
          <p:cNvSpPr>
            <a:spLocks xmlns:a="http://schemas.openxmlformats.org/drawingml/2006/main" noGrp="1"/>
          </p:cNvSpPr>
          <p:nvPr/>
        </p:nvSpPr>
        <p:spPr>
          <a:xfrm xmlns:a="http://schemas.openxmlformats.org/drawingml/2006/main">
            <a:off x="514350" y="6486525"/>
            <a:ext cx="409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2000"/>
              </a:lnSpc>
              <a:buNone/>
              <a:defRPr sz="900" b="1">
                <a:solidFill>
                  <a:srgbClr val="5D6670"/>
                </a:solidFill>
                <a:latin typeface="Helvetica Neue"/>
                <a:ea typeface="Helvetica Neue"/>
                <a:cs typeface="Helvetica Neue"/>
              </a:defRPr>
            </a:pPr>
            <a:r>
              <a:rPr sz="900" b="1">
                <a:solidFill>
                  <a:srgbClr val="5D6670"/>
                </a:solidFill>
                <a:latin typeface="Helvetica Neue"/>
                <a:ea typeface="Helvetica Neue"/>
                <a:cs typeface="Helvetica Neue"/>
              </a:rPr>
              <a:t>LABSPACE VR  •  ADVANCED LEARNING</a:t>
            </a:r>
          </a:p>
        </p:txBody>
      </p:sp>
      <p:sp>
        <p:nvSpPr>
          <p:cNvPr id="15" name="slide-2-footer-number">
            <a:extLst xmlns:a="http://schemas.openxmlformats.org/drawingml/2006/main">
              <a:ext uri="{FF2B5EF4-FFF2-40B4-BE49-F238E27FC236}">
                <a16:creationId xmlns:a16="http://schemas.microsoft.com/office/drawing/2014/main" id="{4986D3A4-A324-455C-9DCB-B0A8146F03ED}"/>
              </a:ext>
            </a:extLst>
          </p:cNvPr>
          <p:cNvSpPr>
            <a:spLocks xmlns:a="http://schemas.openxmlformats.org/drawingml/2006/main" noGrp="1"/>
          </p:cNvSpPr>
          <p:nvPr/>
        </p:nvSpPr>
        <p:spPr>
          <a:xfrm xmlns:a="http://schemas.openxmlformats.org/drawingml/2006/main">
            <a:off x="11163300" y="643890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2000"/>
              </a:lnSpc>
              <a:buNone/>
              <a:defRPr sz="1050" b="1">
                <a:solidFill>
                  <a:srgbClr val="5D6670"/>
                </a:solidFill>
                <a:latin typeface="Helvetica Neue"/>
                <a:ea typeface="Helvetica Neue"/>
                <a:cs typeface="Helvetica Neue"/>
              </a:defRPr>
            </a:pPr>
            <a:r>
              <a:rPr sz="1050" b="1">
                <a:solidFill>
                  <a:srgbClr val="5D6670"/>
                </a:solidFill>
                <a:latin typeface="Helvetica Neue"/>
                <a:ea typeface="Helvetica Neue"/>
                <a:cs typeface="Helvetica Neue"/>
              </a:rPr>
              <a:t>02</a:t>
            </a:r>
          </a:p>
        </p:txBody>
      </p:sp>
    </p:spTree>
    <p:extLst>
      <p:ext uri="{BB962C8B-B14F-4D97-AF65-F5344CB8AC3E}">
        <p14:creationId xmlns:p14="http://schemas.microsoft.com/office/powerpoint/2010/main" val="14024041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slide-3-title">
            <a:extLst xmlns:a="http://schemas.openxmlformats.org/drawingml/2006/main">
              <a:ext uri="{FF2B5EF4-FFF2-40B4-BE49-F238E27FC236}">
                <a16:creationId xmlns:a16="http://schemas.microsoft.com/office/drawing/2014/main" id="{056643EB-957D-4624-9D30-BEB082D33F35}"/>
              </a:ext>
            </a:extLst>
          </p:cNvPr>
          <p:cNvSpPr>
            <a:spLocks xmlns:a="http://schemas.openxmlformats.org/drawingml/2006/main" noGrp="1"/>
          </p:cNvSpPr>
          <p:nvPr/>
        </p:nvSpPr>
        <p:spPr>
          <a:xfrm xmlns:a="http://schemas.openxmlformats.org/drawingml/2006/main">
            <a:off x="514350" y="342900"/>
            <a:ext cx="111633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1443"/>
          </a:bodyPr>
          <a:lstStyle xmlns:a="http://schemas.openxmlformats.org/drawingml/2006/main"/>
          <a:p xmlns:a="http://schemas.openxmlformats.org/drawingml/2006/main">
            <a:pPr algn="l">
              <a:lnSpc>
                <a:spcPct val="94000"/>
              </a:lnSpc>
              <a:buNone/>
              <a:defRPr sz="3600" b="1">
                <a:solidFill>
                  <a:srgbClr val="050505"/>
                </a:solidFill>
                <a:latin typeface="Helvetica Neue"/>
                <a:ea typeface="Helvetica Neue"/>
                <a:cs typeface="Helvetica Neue"/>
              </a:defRPr>
            </a:pPr>
            <a:r>
              <a:rPr sz="3600" b="1">
                <a:solidFill>
                  <a:srgbClr val="050505"/>
                </a:solidFill>
                <a:latin typeface="Helvetica Neue"/>
                <a:ea typeface="Helvetica Neue"/>
                <a:cs typeface="Helvetica Neue"/>
              </a:rPr>
              <a:t>Thirteen guided steps turn the protocol into embodied practice</a:t>
            </a:r>
          </a:p>
        </p:txBody>
      </p:sp>
      <p:sp>
        <p:nvSpPr>
          <p:cNvPr id="2" name="slide-3-accent">
            <a:extLst xmlns:a="http://schemas.openxmlformats.org/drawingml/2006/main">
              <a:ext uri="{FF2B5EF4-FFF2-40B4-BE49-F238E27FC236}">
                <a16:creationId xmlns:a16="http://schemas.microsoft.com/office/drawing/2014/main" id="{5E0D5470-9E29-445D-878B-F85EF816B18E}"/>
              </a:ext>
            </a:extLst>
          </p:cNvPr>
          <p:cNvSpPr>
            <a:spLocks xmlns:a="http://schemas.openxmlformats.org/drawingml/2006/main" noGrp="1"/>
          </p:cNvSpPr>
          <p:nvPr/>
        </p:nvSpPr>
        <p:spPr>
          <a:xfrm xmlns:a="http://schemas.openxmlformats.org/drawingml/2006/main">
            <a:off x="514350" y="1162050"/>
            <a:ext cx="914400" cy="47625"/>
          </a:xfrm>
          <a:prstGeom xmlns:a="http://schemas.openxmlformats.org/drawingml/2006/main" prst="rect">
            <a:avLst/>
          </a:prstGeom>
          <a:solidFill xmlns:a="http://schemas.openxmlformats.org/drawingml/2006/main">
            <a:srgbClr val="1BA7D1"/>
          </a:solidFill>
          <a:ln xmlns:a="http://schemas.openxmlformats.org/drawingml/2006/main" w="0">
            <a:noFill/>
            <a:prstDash val="solid"/>
          </a:ln>
        </p:spPr>
      </p:sp>
      <p:sp>
        <p:nvSpPr>
          <p:cNvPr id="3" name="s3-image-bg-0">
            <a:extLst xmlns:a="http://schemas.openxmlformats.org/drawingml/2006/main">
              <a:ext uri="{FF2B5EF4-FFF2-40B4-BE49-F238E27FC236}">
                <a16:creationId xmlns:a16="http://schemas.microsoft.com/office/drawing/2014/main" id="{C342BB31-3BD3-4F9F-86AF-26DBBB12E407}"/>
              </a:ext>
            </a:extLst>
          </p:cNvPr>
          <p:cNvSpPr>
            <a:spLocks xmlns:a="http://schemas.openxmlformats.org/drawingml/2006/main" noGrp="1"/>
          </p:cNvSpPr>
          <p:nvPr/>
        </p:nvSpPr>
        <p:spPr>
          <a:xfrm xmlns:a="http://schemas.openxmlformats.org/drawingml/2006/main">
            <a:off x="514350" y="1600200"/>
            <a:ext cx="3314700" cy="1504950"/>
          </a:xfrm>
          <a:prstGeom xmlns:a="http://schemas.openxmlformats.org/drawingml/2006/main" prst="roundRect">
            <a:avLst>
              <a:gd name="adj" fmla="val 5063"/>
            </a:avLst>
          </a:prstGeom>
          <a:solidFill xmlns:a="http://schemas.openxmlformats.org/drawingml/2006/main">
            <a:srgbClr val="101417"/>
          </a:solidFill>
          <a:ln xmlns:a="http://schemas.openxmlformats.org/drawingml/2006/main" w="9525">
            <a:solidFill>
              <a:srgbClr val="B8BCC4"/>
            </a:solidFill>
            <a:prstDash val="solid"/>
          </a:ln>
        </p:spPr>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de0c6c9dbf85485b"/>
          <a:srcRect xmlns:a="http://schemas.openxmlformats.org/drawingml/2006/main" l="0" t="9642" r="0" b="9642"/>
          <a:stretch xmlns:a="http://schemas.openxmlformats.org/drawingml/2006/main">
            <a:fillRect l="0" t="0" r="0" b="0"/>
          </a:stretch>
        </p:blipFill>
        <p:spPr>
          <a:xfrm xmlns:a="http://schemas.openxmlformats.org/drawingml/2006/main">
            <a:off x="514350" y="1600200"/>
            <a:ext cx="3314700" cy="1504950"/>
          </a:xfrm>
          <a:prstGeom xmlns:a="http://schemas.openxmlformats.org/drawingml/2006/main" prst="roundRect">
            <a:avLst>
              <a:gd name="adj" fmla="val 5063"/>
            </a:avLst>
          </a:prstGeom>
        </p:spPr>
      </p:pic>
      <p:sp>
        <p:nvSpPr>
          <p:cNvPr id="5" name="s3-image-bg-1">
            <a:extLst xmlns:a="http://schemas.openxmlformats.org/drawingml/2006/main">
              <a:ext uri="{FF2B5EF4-FFF2-40B4-BE49-F238E27FC236}">
                <a16:creationId xmlns:a16="http://schemas.microsoft.com/office/drawing/2014/main" id="{EB82B4AE-D63C-4BCE-93D9-62AD0F2DD440}"/>
              </a:ext>
            </a:extLst>
          </p:cNvPr>
          <p:cNvSpPr>
            <a:spLocks xmlns:a="http://schemas.openxmlformats.org/drawingml/2006/main" noGrp="1"/>
          </p:cNvSpPr>
          <p:nvPr/>
        </p:nvSpPr>
        <p:spPr>
          <a:xfrm xmlns:a="http://schemas.openxmlformats.org/drawingml/2006/main">
            <a:off x="4343400" y="1600200"/>
            <a:ext cx="3314700" cy="1504950"/>
          </a:xfrm>
          <a:prstGeom xmlns:a="http://schemas.openxmlformats.org/drawingml/2006/main" prst="roundRect">
            <a:avLst>
              <a:gd name="adj" fmla="val 5063"/>
            </a:avLst>
          </a:prstGeom>
          <a:solidFill xmlns:a="http://schemas.openxmlformats.org/drawingml/2006/main">
            <a:srgbClr val="101417"/>
          </a:solidFill>
          <a:ln xmlns:a="http://schemas.openxmlformats.org/drawingml/2006/main" w="9525">
            <a:solidFill>
              <a:srgbClr val="B8BCC4"/>
            </a:solidFill>
            <a:prstDash val="solid"/>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d64bb75166d14b5f"/>
          <a:srcRect xmlns:a="http://schemas.openxmlformats.org/drawingml/2006/main" l="0" t="9642" r="0" b="9642"/>
          <a:stretch xmlns:a="http://schemas.openxmlformats.org/drawingml/2006/main">
            <a:fillRect l="0" t="0" r="0" b="0"/>
          </a:stretch>
        </p:blipFill>
        <p:spPr>
          <a:xfrm xmlns:a="http://schemas.openxmlformats.org/drawingml/2006/main">
            <a:off x="4343400" y="1600200"/>
            <a:ext cx="3314700" cy="1504950"/>
          </a:xfrm>
          <a:prstGeom xmlns:a="http://schemas.openxmlformats.org/drawingml/2006/main" prst="roundRect">
            <a:avLst>
              <a:gd name="adj" fmla="val 5063"/>
            </a:avLst>
          </a:prstGeom>
        </p:spPr>
      </p:pic>
      <p:sp>
        <p:nvSpPr>
          <p:cNvPr id="7" name="s3-image-bg-2">
            <a:extLst xmlns:a="http://schemas.openxmlformats.org/drawingml/2006/main">
              <a:ext uri="{FF2B5EF4-FFF2-40B4-BE49-F238E27FC236}">
                <a16:creationId xmlns:a16="http://schemas.microsoft.com/office/drawing/2014/main" id="{6FEE438B-C2ED-4ABD-A9CC-4FEADFD0BC4B}"/>
              </a:ext>
            </a:extLst>
          </p:cNvPr>
          <p:cNvSpPr>
            <a:spLocks xmlns:a="http://schemas.openxmlformats.org/drawingml/2006/main" noGrp="1"/>
          </p:cNvSpPr>
          <p:nvPr/>
        </p:nvSpPr>
        <p:spPr>
          <a:xfrm xmlns:a="http://schemas.openxmlformats.org/drawingml/2006/main">
            <a:off x="8172450" y="1600200"/>
            <a:ext cx="3314700" cy="1504950"/>
          </a:xfrm>
          <a:prstGeom xmlns:a="http://schemas.openxmlformats.org/drawingml/2006/main" prst="roundRect">
            <a:avLst>
              <a:gd name="adj" fmla="val 5063"/>
            </a:avLst>
          </a:prstGeom>
          <a:solidFill xmlns:a="http://schemas.openxmlformats.org/drawingml/2006/main">
            <a:srgbClr val="101417"/>
          </a:solidFill>
          <a:ln xmlns:a="http://schemas.openxmlformats.org/drawingml/2006/main" w="9525">
            <a:solidFill>
              <a:srgbClr val="B8BCC4"/>
            </a:solidFill>
            <a:prstDash val="solid"/>
          </a:ln>
        </p:spPr>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5f407cab334a4607"/>
          <a:srcRect xmlns:a="http://schemas.openxmlformats.org/drawingml/2006/main" l="0" t="9642" r="0" b="9642"/>
          <a:stretch xmlns:a="http://schemas.openxmlformats.org/drawingml/2006/main">
            <a:fillRect l="0" t="0" r="0" b="0"/>
          </a:stretch>
        </p:blipFill>
        <p:spPr>
          <a:xfrm xmlns:a="http://schemas.openxmlformats.org/drawingml/2006/main">
            <a:off x="8172450" y="1600200"/>
            <a:ext cx="3314700" cy="1504950"/>
          </a:xfrm>
          <a:prstGeom xmlns:a="http://schemas.openxmlformats.org/drawingml/2006/main" prst="roundRect">
            <a:avLst>
              <a:gd name="adj" fmla="val 5063"/>
            </a:avLst>
          </a:prstGeom>
        </p:spPr>
      </p:pic>
      <p:sp>
        <p:nvSpPr>
          <p:cNvPr id="9" name="s3-timeline">
            <a:extLst xmlns:a="http://schemas.openxmlformats.org/drawingml/2006/main">
              <a:ext uri="{FF2B5EF4-FFF2-40B4-BE49-F238E27FC236}">
                <a16:creationId xmlns:a16="http://schemas.microsoft.com/office/drawing/2014/main" id="{DA8C56E5-6438-481B-8A77-AAA78E50D364}"/>
              </a:ext>
            </a:extLst>
          </p:cNvPr>
          <p:cNvSpPr>
            <a:spLocks xmlns:a="http://schemas.openxmlformats.org/drawingml/2006/main" noGrp="1"/>
          </p:cNvSpPr>
          <p:nvPr/>
        </p:nvSpPr>
        <p:spPr>
          <a:xfrm xmlns:a="http://schemas.openxmlformats.org/drawingml/2006/main">
            <a:off x="514350" y="3390900"/>
            <a:ext cx="10953750" cy="190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0" name="s3-node-0">
            <a:extLst xmlns:a="http://schemas.openxmlformats.org/drawingml/2006/main">
              <a:ext uri="{FF2B5EF4-FFF2-40B4-BE49-F238E27FC236}">
                <a16:creationId xmlns:a16="http://schemas.microsoft.com/office/drawing/2014/main" id="{305618B6-01FD-4E23-859A-3D71AD04970B}"/>
              </a:ext>
            </a:extLst>
          </p:cNvPr>
          <p:cNvSpPr>
            <a:spLocks xmlns:a="http://schemas.openxmlformats.org/drawingml/2006/main" noGrp="1"/>
          </p:cNvSpPr>
          <p:nvPr/>
        </p:nvSpPr>
        <p:spPr>
          <a:xfrm xmlns:a="http://schemas.openxmlformats.org/drawingml/2006/main">
            <a:off x="514350" y="3314700"/>
            <a:ext cx="171450" cy="171450"/>
          </a:xfrm>
          <a:prstGeom xmlns:a="http://schemas.openxmlformats.org/drawingml/2006/main" prst="rect">
            <a:avLst/>
          </a:prstGeom>
          <a:solidFill xmlns:a="http://schemas.openxmlformats.org/drawingml/2006/main">
            <a:srgbClr val="1BA7D1"/>
          </a:solidFill>
          <a:ln xmlns:a="http://schemas.openxmlformats.org/drawingml/2006/main" w="0">
            <a:noFill/>
            <a:prstDash val="solid"/>
          </a:ln>
        </p:spPr>
      </p:sp>
      <p:sp>
        <p:nvSpPr>
          <p:cNvPr id="11" name="s3-range-0">
            <a:extLst xmlns:a="http://schemas.openxmlformats.org/drawingml/2006/main">
              <a:ext uri="{FF2B5EF4-FFF2-40B4-BE49-F238E27FC236}">
                <a16:creationId xmlns:a16="http://schemas.microsoft.com/office/drawing/2014/main" id="{7D267583-4982-4EC5-A228-AF2A9DB5FB19}"/>
              </a:ext>
            </a:extLst>
          </p:cNvPr>
          <p:cNvSpPr>
            <a:spLocks xmlns:a="http://schemas.openxmlformats.org/drawingml/2006/main" noGrp="1"/>
          </p:cNvSpPr>
          <p:nvPr/>
        </p:nvSpPr>
        <p:spPr>
          <a:xfrm xmlns:a="http://schemas.openxmlformats.org/drawingml/2006/main">
            <a:off x="514350" y="3676650"/>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350" b="1">
                <a:solidFill>
                  <a:srgbClr val="1BA7D1"/>
                </a:solidFill>
                <a:latin typeface="Helvetica Neue"/>
                <a:ea typeface="Helvetica Neue"/>
                <a:cs typeface="Helvetica Neue"/>
              </a:defRPr>
            </a:pPr>
            <a:r>
              <a:rPr sz="1350" b="1">
                <a:solidFill>
                  <a:srgbClr val="1BA7D1"/>
                </a:solidFill>
                <a:latin typeface="Helvetica Neue"/>
                <a:ea typeface="Helvetica Neue"/>
                <a:cs typeface="Helvetica Neue"/>
              </a:rPr>
              <a:t>1–6</a:t>
            </a:r>
          </a:p>
        </p:txBody>
      </p:sp>
      <p:sp>
        <p:nvSpPr>
          <p:cNvPr id="12" name="s3-phase-0">
            <a:extLst xmlns:a="http://schemas.openxmlformats.org/drawingml/2006/main">
              <a:ext uri="{FF2B5EF4-FFF2-40B4-BE49-F238E27FC236}">
                <a16:creationId xmlns:a16="http://schemas.microsoft.com/office/drawing/2014/main" id="{3889ED67-7BE4-4337-B010-4F9575A023D6}"/>
              </a:ext>
            </a:extLst>
          </p:cNvPr>
          <p:cNvSpPr>
            <a:spLocks xmlns:a="http://schemas.openxmlformats.org/drawingml/2006/main" noGrp="1"/>
          </p:cNvSpPr>
          <p:nvPr/>
        </p:nvSpPr>
        <p:spPr>
          <a:xfrm xmlns:a="http://schemas.openxmlformats.org/drawingml/2006/main">
            <a:off x="514350" y="4000500"/>
            <a:ext cx="323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325" b="1">
                <a:solidFill>
                  <a:srgbClr val="050505"/>
                </a:solidFill>
                <a:latin typeface="Helvetica Neue"/>
                <a:ea typeface="Helvetica Neue"/>
                <a:cs typeface="Helvetica Neue"/>
              </a:defRPr>
            </a:pPr>
            <a:r>
              <a:rPr sz="2325" b="1">
                <a:solidFill>
                  <a:srgbClr val="050505"/>
                </a:solidFill>
                <a:latin typeface="Helvetica Neue"/>
                <a:ea typeface="Helvetica Neue"/>
                <a:cs typeface="Helvetica Neue"/>
              </a:rPr>
              <a:t>Prepare</a:t>
            </a:r>
          </a:p>
        </p:txBody>
      </p:sp>
      <p:sp>
        <p:nvSpPr>
          <p:cNvPr id="13" name="s3-body-0">
            <a:extLst xmlns:a="http://schemas.openxmlformats.org/drawingml/2006/main">
              <a:ext uri="{FF2B5EF4-FFF2-40B4-BE49-F238E27FC236}">
                <a16:creationId xmlns:a16="http://schemas.microsoft.com/office/drawing/2014/main" id="{AB81D05E-733C-4447-99AD-D73666B9BE36}"/>
              </a:ext>
            </a:extLst>
          </p:cNvPr>
          <p:cNvSpPr>
            <a:spLocks xmlns:a="http://schemas.openxmlformats.org/drawingml/2006/main" noGrp="1"/>
          </p:cNvSpPr>
          <p:nvPr/>
        </p:nvSpPr>
        <p:spPr>
          <a:xfrm xmlns:a="http://schemas.openxmlformats.org/drawingml/2006/main">
            <a:off x="514350" y="4533900"/>
            <a:ext cx="32385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575" b="0">
                <a:solidFill>
                  <a:srgbClr val="5D6670"/>
                </a:solidFill>
                <a:latin typeface="Helvetica Neue"/>
                <a:ea typeface="Helvetica Neue"/>
                <a:cs typeface="Helvetica Neue"/>
              </a:defRPr>
            </a:pPr>
            <a:r>
              <a:rPr sz="1575" b="0">
                <a:solidFill>
                  <a:srgbClr val="5D6670"/>
                </a:solidFill>
                <a:latin typeface="Helvetica Neue"/>
                <a:ea typeface="Helvetica Neue"/>
                <a:cs typeface="Helvetica Neue"/>
              </a:rPr>
              <a:t>Confirm growth parameters</a:t>
            </a:r>
          </a:p>
          <a:p xmlns:a="http://schemas.openxmlformats.org/drawingml/2006/main">
            <a:pPr algn="l">
              <a:lnSpc>
                <a:spcPct val="112000"/>
              </a:lnSpc>
              <a:buNone/>
              <a:defRPr sz="1575" b="0">
                <a:solidFill>
                  <a:srgbClr val="5D6670"/>
                </a:solidFill>
                <a:latin typeface="Helvetica Neue"/>
                <a:ea typeface="Helvetica Neue"/>
                <a:cs typeface="Helvetica Neue"/>
              </a:defRPr>
            </a:pPr>
            <a:r>
              <a:rPr sz="1575" b="0">
                <a:solidFill>
                  <a:srgbClr val="5D6670"/>
                </a:solidFill>
                <a:latin typeface="Helvetica Neue"/>
                <a:ea typeface="Helvetica Neue"/>
                <a:cs typeface="Helvetica Neue"/>
              </a:rPr>
              <a:t>Power on • load • connect</a:t>
            </a:r>
          </a:p>
          <a:p xmlns:a="http://schemas.openxmlformats.org/drawingml/2006/main">
            <a:pPr algn="l">
              <a:lnSpc>
                <a:spcPct val="112000"/>
              </a:lnSpc>
              <a:buNone/>
              <a:defRPr sz="1575" b="0">
                <a:solidFill>
                  <a:srgbClr val="5D6670"/>
                </a:solidFill>
                <a:latin typeface="Helvetica Neue"/>
                <a:ea typeface="Helvetica Neue"/>
                <a:cs typeface="Helvetica Neue"/>
              </a:defRPr>
            </a:pPr>
            <a:r>
              <a:rPr sz="1575" b="0">
                <a:solidFill>
                  <a:srgbClr val="5D6670"/>
                </a:solidFill>
                <a:latin typeface="Helvetica Neue"/>
                <a:ea typeface="Helvetica Neue"/>
                <a:cs typeface="Helvetica Neue"/>
              </a:rPr>
              <a:t>Feed substrate • close lid</a:t>
            </a:r>
          </a:p>
        </p:txBody>
      </p:sp>
      <p:sp>
        <p:nvSpPr>
          <p:cNvPr id="14" name="s3-node-1">
            <a:extLst xmlns:a="http://schemas.openxmlformats.org/drawingml/2006/main">
              <a:ext uri="{FF2B5EF4-FFF2-40B4-BE49-F238E27FC236}">
                <a16:creationId xmlns:a16="http://schemas.microsoft.com/office/drawing/2014/main" id="{AEE7C430-6F1E-4DCF-9E52-E83740AF26FA}"/>
              </a:ext>
            </a:extLst>
          </p:cNvPr>
          <p:cNvSpPr>
            <a:spLocks xmlns:a="http://schemas.openxmlformats.org/drawingml/2006/main" noGrp="1"/>
          </p:cNvSpPr>
          <p:nvPr/>
        </p:nvSpPr>
        <p:spPr>
          <a:xfrm xmlns:a="http://schemas.openxmlformats.org/drawingml/2006/main">
            <a:off x="4343400" y="3314700"/>
            <a:ext cx="171450" cy="171450"/>
          </a:xfrm>
          <a:prstGeom xmlns:a="http://schemas.openxmlformats.org/drawingml/2006/main" prst="rect">
            <a:avLst/>
          </a:prstGeom>
          <a:solidFill xmlns:a="http://schemas.openxmlformats.org/drawingml/2006/main">
            <a:srgbClr val="1BA7D1"/>
          </a:solidFill>
          <a:ln xmlns:a="http://schemas.openxmlformats.org/drawingml/2006/main" w="0">
            <a:noFill/>
            <a:prstDash val="solid"/>
          </a:ln>
        </p:spPr>
      </p:sp>
      <p:sp>
        <p:nvSpPr>
          <p:cNvPr id="15" name="s3-range-1">
            <a:extLst xmlns:a="http://schemas.openxmlformats.org/drawingml/2006/main">
              <a:ext uri="{FF2B5EF4-FFF2-40B4-BE49-F238E27FC236}">
                <a16:creationId xmlns:a16="http://schemas.microsoft.com/office/drawing/2014/main" id="{860E0123-E7E3-486D-B521-93358FE258F5}"/>
              </a:ext>
            </a:extLst>
          </p:cNvPr>
          <p:cNvSpPr>
            <a:spLocks xmlns:a="http://schemas.openxmlformats.org/drawingml/2006/main" noGrp="1"/>
          </p:cNvSpPr>
          <p:nvPr/>
        </p:nvSpPr>
        <p:spPr>
          <a:xfrm xmlns:a="http://schemas.openxmlformats.org/drawingml/2006/main">
            <a:off x="4343400" y="3676650"/>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350" b="1">
                <a:solidFill>
                  <a:srgbClr val="1BA7D1"/>
                </a:solidFill>
                <a:latin typeface="Helvetica Neue"/>
                <a:ea typeface="Helvetica Neue"/>
                <a:cs typeface="Helvetica Neue"/>
              </a:defRPr>
            </a:pPr>
            <a:r>
              <a:rPr sz="1350" b="1">
                <a:solidFill>
                  <a:srgbClr val="1BA7D1"/>
                </a:solidFill>
                <a:latin typeface="Helvetica Neue"/>
                <a:ea typeface="Helvetica Neue"/>
                <a:cs typeface="Helvetica Neue"/>
              </a:rPr>
              <a:t>7–10</a:t>
            </a:r>
          </a:p>
        </p:txBody>
      </p:sp>
      <p:sp>
        <p:nvSpPr>
          <p:cNvPr id="16" name="s3-phase-1">
            <a:extLst xmlns:a="http://schemas.openxmlformats.org/drawingml/2006/main">
              <a:ext uri="{FF2B5EF4-FFF2-40B4-BE49-F238E27FC236}">
                <a16:creationId xmlns:a16="http://schemas.microsoft.com/office/drawing/2014/main" id="{42FAB440-084E-4747-B392-275841E9423A}"/>
              </a:ext>
            </a:extLst>
          </p:cNvPr>
          <p:cNvSpPr>
            <a:spLocks xmlns:a="http://schemas.openxmlformats.org/drawingml/2006/main" noGrp="1"/>
          </p:cNvSpPr>
          <p:nvPr/>
        </p:nvSpPr>
        <p:spPr>
          <a:xfrm xmlns:a="http://schemas.openxmlformats.org/drawingml/2006/main">
            <a:off x="4343400" y="4000500"/>
            <a:ext cx="323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325" b="1">
                <a:solidFill>
                  <a:srgbClr val="050505"/>
                </a:solidFill>
                <a:latin typeface="Helvetica Neue"/>
                <a:ea typeface="Helvetica Neue"/>
                <a:cs typeface="Helvetica Neue"/>
              </a:defRPr>
            </a:pPr>
            <a:r>
              <a:rPr sz="2325" b="1">
                <a:solidFill>
                  <a:srgbClr val="050505"/>
                </a:solidFill>
                <a:latin typeface="Helvetica Neue"/>
                <a:ea typeface="Helvetica Neue"/>
                <a:cs typeface="Helvetica Neue"/>
              </a:rPr>
              <a:t>Run the process</a:t>
            </a:r>
          </a:p>
        </p:txBody>
      </p:sp>
      <p:sp>
        <p:nvSpPr>
          <p:cNvPr id="17" name="s3-body-1">
            <a:extLst xmlns:a="http://schemas.openxmlformats.org/drawingml/2006/main">
              <a:ext uri="{FF2B5EF4-FFF2-40B4-BE49-F238E27FC236}">
                <a16:creationId xmlns:a16="http://schemas.microsoft.com/office/drawing/2014/main" id="{7ED6EEF3-A2BD-417C-9591-49C10862F218}"/>
              </a:ext>
            </a:extLst>
          </p:cNvPr>
          <p:cNvSpPr>
            <a:spLocks xmlns:a="http://schemas.openxmlformats.org/drawingml/2006/main" noGrp="1"/>
          </p:cNvSpPr>
          <p:nvPr/>
        </p:nvSpPr>
        <p:spPr>
          <a:xfrm xmlns:a="http://schemas.openxmlformats.org/drawingml/2006/main">
            <a:off x="4343400" y="4533900"/>
            <a:ext cx="32385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575" b="0">
                <a:solidFill>
                  <a:srgbClr val="5D6670"/>
                </a:solidFill>
                <a:latin typeface="Helvetica Neue"/>
                <a:ea typeface="Helvetica Neue"/>
                <a:cs typeface="Helvetica Neue"/>
              </a:defRPr>
            </a:pPr>
            <a:r>
              <a:rPr sz="1575" b="0">
                <a:solidFill>
                  <a:srgbClr val="5D6670"/>
                </a:solidFill>
                <a:latin typeface="Helvetica Neue"/>
                <a:ea typeface="Helvetica Neue"/>
                <a:cs typeface="Helvetica Neue"/>
              </a:rPr>
              <a:t>Set gas flow and 3 zones</a:t>
            </a:r>
          </a:p>
          <a:p xmlns:a="http://schemas.openxmlformats.org/drawingml/2006/main">
            <a:pPr algn="l">
              <a:lnSpc>
                <a:spcPct val="112000"/>
              </a:lnSpc>
              <a:buNone/>
              <a:defRPr sz="1575" b="0">
                <a:solidFill>
                  <a:srgbClr val="5D6670"/>
                </a:solidFill>
                <a:latin typeface="Helvetica Neue"/>
                <a:ea typeface="Helvetica Neue"/>
                <a:cs typeface="Helvetica Neue"/>
              </a:defRPr>
            </a:pPr>
            <a:r>
              <a:rPr sz="1575" b="0">
                <a:solidFill>
                  <a:srgbClr val="5D6670"/>
                </a:solidFill>
                <a:latin typeface="Helvetica Neue"/>
                <a:ea typeface="Helvetica Neue"/>
                <a:cs typeface="Helvetica Neue"/>
              </a:rPr>
              <a:t>Ramp and soak</a:t>
            </a:r>
          </a:p>
          <a:p xmlns:a="http://schemas.openxmlformats.org/drawingml/2006/main">
            <a:pPr algn="l">
              <a:lnSpc>
                <a:spcPct val="112000"/>
              </a:lnSpc>
              <a:buNone/>
              <a:defRPr sz="1575" b="0">
                <a:solidFill>
                  <a:srgbClr val="5D6670"/>
                </a:solidFill>
                <a:latin typeface="Helvetica Neue"/>
                <a:ea typeface="Helvetica Neue"/>
                <a:cs typeface="Helvetica Neue"/>
              </a:defRPr>
            </a:pPr>
            <a:r>
              <a:rPr sz="1575" b="0">
                <a:solidFill>
                  <a:srgbClr val="5D6670"/>
                </a:solidFill>
                <a:latin typeface="Helvetica Neue"/>
                <a:ea typeface="Helvetica Neue"/>
                <a:cs typeface="Helvetica Neue"/>
              </a:rPr>
              <a:t>Observe nanowire growth</a:t>
            </a:r>
          </a:p>
        </p:txBody>
      </p:sp>
      <p:sp>
        <p:nvSpPr>
          <p:cNvPr id="18" name="s3-node-2">
            <a:extLst xmlns:a="http://schemas.openxmlformats.org/drawingml/2006/main">
              <a:ext uri="{FF2B5EF4-FFF2-40B4-BE49-F238E27FC236}">
                <a16:creationId xmlns:a16="http://schemas.microsoft.com/office/drawing/2014/main" id="{BDDEAFE0-9F4A-41BD-8D93-812F38CBA36E}"/>
              </a:ext>
            </a:extLst>
          </p:cNvPr>
          <p:cNvSpPr>
            <a:spLocks xmlns:a="http://schemas.openxmlformats.org/drawingml/2006/main" noGrp="1"/>
          </p:cNvSpPr>
          <p:nvPr/>
        </p:nvSpPr>
        <p:spPr>
          <a:xfrm xmlns:a="http://schemas.openxmlformats.org/drawingml/2006/main">
            <a:off x="8172450" y="3314700"/>
            <a:ext cx="171450" cy="171450"/>
          </a:xfrm>
          <a:prstGeom xmlns:a="http://schemas.openxmlformats.org/drawingml/2006/main" prst="rect">
            <a:avLst/>
          </a:prstGeom>
          <a:solidFill xmlns:a="http://schemas.openxmlformats.org/drawingml/2006/main">
            <a:srgbClr val="1BA7D1"/>
          </a:solidFill>
          <a:ln xmlns:a="http://schemas.openxmlformats.org/drawingml/2006/main" w="0">
            <a:noFill/>
            <a:prstDash val="solid"/>
          </a:ln>
        </p:spPr>
      </p:sp>
      <p:sp>
        <p:nvSpPr>
          <p:cNvPr id="19" name="s3-range-2">
            <a:extLst xmlns:a="http://schemas.openxmlformats.org/drawingml/2006/main">
              <a:ext uri="{FF2B5EF4-FFF2-40B4-BE49-F238E27FC236}">
                <a16:creationId xmlns:a16="http://schemas.microsoft.com/office/drawing/2014/main" id="{B5403C08-63A3-4BA5-841C-D7DE454D5359}"/>
              </a:ext>
            </a:extLst>
          </p:cNvPr>
          <p:cNvSpPr>
            <a:spLocks xmlns:a="http://schemas.openxmlformats.org/drawingml/2006/main" noGrp="1"/>
          </p:cNvSpPr>
          <p:nvPr/>
        </p:nvSpPr>
        <p:spPr>
          <a:xfrm xmlns:a="http://schemas.openxmlformats.org/drawingml/2006/main">
            <a:off x="8172450" y="3676650"/>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350" b="1">
                <a:solidFill>
                  <a:srgbClr val="1BA7D1"/>
                </a:solidFill>
                <a:latin typeface="Helvetica Neue"/>
                <a:ea typeface="Helvetica Neue"/>
                <a:cs typeface="Helvetica Neue"/>
              </a:defRPr>
            </a:pPr>
            <a:r>
              <a:rPr sz="1350" b="1">
                <a:solidFill>
                  <a:srgbClr val="1BA7D1"/>
                </a:solidFill>
                <a:latin typeface="Helvetica Neue"/>
                <a:ea typeface="Helvetica Neue"/>
                <a:cs typeface="Helvetica Neue"/>
              </a:rPr>
              <a:t>11–13</a:t>
            </a:r>
          </a:p>
        </p:txBody>
      </p:sp>
      <p:sp>
        <p:nvSpPr>
          <p:cNvPr id="20" name="s3-phase-2">
            <a:extLst xmlns:a="http://schemas.openxmlformats.org/drawingml/2006/main">
              <a:ext uri="{FF2B5EF4-FFF2-40B4-BE49-F238E27FC236}">
                <a16:creationId xmlns:a16="http://schemas.microsoft.com/office/drawing/2014/main" id="{CD1E30D7-B694-4123-B804-5E4F28521D64}"/>
              </a:ext>
            </a:extLst>
          </p:cNvPr>
          <p:cNvSpPr>
            <a:spLocks xmlns:a="http://schemas.openxmlformats.org/drawingml/2006/main" noGrp="1"/>
          </p:cNvSpPr>
          <p:nvPr/>
        </p:nvSpPr>
        <p:spPr>
          <a:xfrm xmlns:a="http://schemas.openxmlformats.org/drawingml/2006/main">
            <a:off x="8172450" y="4000500"/>
            <a:ext cx="323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325" b="1">
                <a:solidFill>
                  <a:srgbClr val="050505"/>
                </a:solidFill>
                <a:latin typeface="Helvetica Neue"/>
                <a:ea typeface="Helvetica Neue"/>
                <a:cs typeface="Helvetica Neue"/>
              </a:defRPr>
            </a:pPr>
            <a:r>
              <a:rPr sz="2325" b="1">
                <a:solidFill>
                  <a:srgbClr val="050505"/>
                </a:solidFill>
                <a:latin typeface="Helvetica Neue"/>
                <a:ea typeface="Helvetica Neue"/>
                <a:cs typeface="Helvetica Neue"/>
              </a:rPr>
              <a:t>Finish safely</a:t>
            </a:r>
          </a:p>
        </p:txBody>
      </p:sp>
      <p:sp>
        <p:nvSpPr>
          <p:cNvPr id="21" name="s3-body-2">
            <a:extLst xmlns:a="http://schemas.openxmlformats.org/drawingml/2006/main">
              <a:ext uri="{FF2B5EF4-FFF2-40B4-BE49-F238E27FC236}">
                <a16:creationId xmlns:a16="http://schemas.microsoft.com/office/drawing/2014/main" id="{ABDC7EE7-9815-4D84-9168-03ACC8F3EDE3}"/>
              </a:ext>
            </a:extLst>
          </p:cNvPr>
          <p:cNvSpPr>
            <a:spLocks xmlns:a="http://schemas.openxmlformats.org/drawingml/2006/main" noGrp="1"/>
          </p:cNvSpPr>
          <p:nvPr/>
        </p:nvSpPr>
        <p:spPr>
          <a:xfrm xmlns:a="http://schemas.openxmlformats.org/drawingml/2006/main">
            <a:off x="8172450" y="4533900"/>
            <a:ext cx="32385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575" b="0">
                <a:solidFill>
                  <a:srgbClr val="5D6670"/>
                </a:solidFill>
                <a:latin typeface="Helvetica Neue"/>
                <a:ea typeface="Helvetica Neue"/>
                <a:cs typeface="Helvetica Neue"/>
              </a:defRPr>
            </a:pPr>
            <a:r>
              <a:rPr sz="1575" b="0">
                <a:solidFill>
                  <a:srgbClr val="5D6670"/>
                </a:solidFill>
                <a:latin typeface="Helvetica Neue"/>
                <a:ea typeface="Helvetica Neue"/>
                <a:cs typeface="Helvetica Neue"/>
              </a:rPr>
              <a:t>Cool below threshold</a:t>
            </a:r>
          </a:p>
          <a:p xmlns:a="http://schemas.openxmlformats.org/drawingml/2006/main">
            <a:pPr algn="l">
              <a:lnSpc>
                <a:spcPct val="112000"/>
              </a:lnSpc>
              <a:buNone/>
              <a:defRPr sz="1575" b="0">
                <a:solidFill>
                  <a:srgbClr val="5D6670"/>
                </a:solidFill>
                <a:latin typeface="Helvetica Neue"/>
                <a:ea typeface="Helvetica Neue"/>
                <a:cs typeface="Helvetica Neue"/>
              </a:defRPr>
            </a:pPr>
            <a:r>
              <a:rPr sz="1575" b="0">
                <a:solidFill>
                  <a:srgbClr val="5D6670"/>
                </a:solidFill>
                <a:latin typeface="Helvetica Neue"/>
                <a:ea typeface="Helvetica Neue"/>
                <a:cs typeface="Helvetica Neue"/>
              </a:rPr>
              <a:t>Open furnace • withdraw</a:t>
            </a:r>
          </a:p>
          <a:p xmlns:a="http://schemas.openxmlformats.org/drawingml/2006/main">
            <a:pPr algn="l">
              <a:lnSpc>
                <a:spcPct val="112000"/>
              </a:lnSpc>
              <a:buNone/>
              <a:defRPr sz="1575" b="0">
                <a:solidFill>
                  <a:srgbClr val="5D6670"/>
                </a:solidFill>
                <a:latin typeface="Helvetica Neue"/>
                <a:ea typeface="Helvetica Neue"/>
                <a:cs typeface="Helvetica Neue"/>
              </a:defRPr>
            </a:pPr>
            <a:r>
              <a:rPr sz="1575" b="0">
                <a:solidFill>
                  <a:srgbClr val="5D6670"/>
                </a:solidFill>
                <a:latin typeface="Helvetica Neue"/>
                <a:ea typeface="Helvetica Neue"/>
                <a:cs typeface="Helvetica Neue"/>
              </a:rPr>
              <a:t>Power off and reset</a:t>
            </a:r>
          </a:p>
        </p:txBody>
      </p:sp>
      <p:sp>
        <p:nvSpPr>
          <p:cNvPr id="22" name="s3-bottom">
            <a:extLst xmlns:a="http://schemas.openxmlformats.org/drawingml/2006/main">
              <a:ext uri="{FF2B5EF4-FFF2-40B4-BE49-F238E27FC236}">
                <a16:creationId xmlns:a16="http://schemas.microsoft.com/office/drawing/2014/main" id="{5E790C9C-1B66-4A21-9FD2-158B3D41BBE2}"/>
              </a:ext>
            </a:extLst>
          </p:cNvPr>
          <p:cNvSpPr>
            <a:spLocks xmlns:a="http://schemas.openxmlformats.org/drawingml/2006/main" noGrp="1"/>
          </p:cNvSpPr>
          <p:nvPr/>
        </p:nvSpPr>
        <p:spPr>
          <a:xfrm xmlns:a="http://schemas.openxmlformats.org/drawingml/2006/main">
            <a:off x="514350" y="5924550"/>
            <a:ext cx="1095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575" b="1">
                <a:solidFill>
                  <a:srgbClr val="050505"/>
                </a:solidFill>
                <a:latin typeface="Helvetica Neue"/>
                <a:ea typeface="Helvetica Neue"/>
                <a:cs typeface="Helvetica Neue"/>
              </a:defRPr>
            </a:pPr>
            <a:r>
              <a:rPr sz="1575" b="1">
                <a:solidFill>
                  <a:srgbClr val="050505"/>
                </a:solidFill>
                <a:latin typeface="Helvetica Neue"/>
                <a:ea typeface="Helvetica Neue"/>
                <a:cs typeface="Helvetica Neue"/>
              </a:rPr>
              <a:t>Each step advances only when its required interaction and safety gates are satisfied.</a:t>
            </a:r>
          </a:p>
        </p:txBody>
      </p:sp>
      <p:sp>
        <p:nvSpPr>
          <p:cNvPr id="23" name="slide-3-footer-left">
            <a:extLst xmlns:a="http://schemas.openxmlformats.org/drawingml/2006/main">
              <a:ext uri="{FF2B5EF4-FFF2-40B4-BE49-F238E27FC236}">
                <a16:creationId xmlns:a16="http://schemas.microsoft.com/office/drawing/2014/main" id="{6D93D101-2B6B-40AA-8AC6-52270567B715}"/>
              </a:ext>
            </a:extLst>
          </p:cNvPr>
          <p:cNvSpPr>
            <a:spLocks xmlns:a="http://schemas.openxmlformats.org/drawingml/2006/main" noGrp="1"/>
          </p:cNvSpPr>
          <p:nvPr/>
        </p:nvSpPr>
        <p:spPr>
          <a:xfrm xmlns:a="http://schemas.openxmlformats.org/drawingml/2006/main">
            <a:off x="514350" y="6486525"/>
            <a:ext cx="409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2000"/>
              </a:lnSpc>
              <a:buNone/>
              <a:defRPr sz="900" b="1">
                <a:solidFill>
                  <a:srgbClr val="5D6670"/>
                </a:solidFill>
                <a:latin typeface="Helvetica Neue"/>
                <a:ea typeface="Helvetica Neue"/>
                <a:cs typeface="Helvetica Neue"/>
              </a:defRPr>
            </a:pPr>
            <a:r>
              <a:rPr sz="900" b="1">
                <a:solidFill>
                  <a:srgbClr val="5D6670"/>
                </a:solidFill>
                <a:latin typeface="Helvetica Neue"/>
                <a:ea typeface="Helvetica Neue"/>
                <a:cs typeface="Helvetica Neue"/>
              </a:rPr>
              <a:t>LABSPACE VR  •  ADVANCED LEARNING</a:t>
            </a:r>
          </a:p>
        </p:txBody>
      </p:sp>
      <p:sp>
        <p:nvSpPr>
          <p:cNvPr id="24" name="slide-3-footer-number">
            <a:extLst xmlns:a="http://schemas.openxmlformats.org/drawingml/2006/main">
              <a:ext uri="{FF2B5EF4-FFF2-40B4-BE49-F238E27FC236}">
                <a16:creationId xmlns:a16="http://schemas.microsoft.com/office/drawing/2014/main" id="{B3648BD0-31A9-41A0-91A9-A9B76FEBFFAE}"/>
              </a:ext>
            </a:extLst>
          </p:cNvPr>
          <p:cNvSpPr>
            <a:spLocks xmlns:a="http://schemas.openxmlformats.org/drawingml/2006/main" noGrp="1"/>
          </p:cNvSpPr>
          <p:nvPr/>
        </p:nvSpPr>
        <p:spPr>
          <a:xfrm xmlns:a="http://schemas.openxmlformats.org/drawingml/2006/main">
            <a:off x="11163300" y="643890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2000"/>
              </a:lnSpc>
              <a:buNone/>
              <a:defRPr sz="1050" b="1">
                <a:solidFill>
                  <a:srgbClr val="5D6670"/>
                </a:solidFill>
                <a:latin typeface="Helvetica Neue"/>
                <a:ea typeface="Helvetica Neue"/>
                <a:cs typeface="Helvetica Neue"/>
              </a:defRPr>
            </a:pPr>
            <a:r>
              <a:rPr sz="1050" b="1">
                <a:solidFill>
                  <a:srgbClr val="5D6670"/>
                </a:solidFill>
                <a:latin typeface="Helvetica Neue"/>
                <a:ea typeface="Helvetica Neue"/>
                <a:cs typeface="Helvetica Neue"/>
              </a:rPr>
              <a:t>03</a:t>
            </a:r>
          </a:p>
        </p:txBody>
      </p:sp>
    </p:spTree>
    <p:extLst>
      <p:ext uri="{BB962C8B-B14F-4D97-AF65-F5344CB8AC3E}">
        <p14:creationId xmlns:p14="http://schemas.microsoft.com/office/powerpoint/2010/main" val="84915567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slide-4-title">
            <a:extLst xmlns:a="http://schemas.openxmlformats.org/drawingml/2006/main">
              <a:ext uri="{FF2B5EF4-FFF2-40B4-BE49-F238E27FC236}">
                <a16:creationId xmlns:a16="http://schemas.microsoft.com/office/drawing/2014/main" id="{446059CB-3717-4106-9B07-CAF6A56659D2}"/>
              </a:ext>
            </a:extLst>
          </p:cNvPr>
          <p:cNvSpPr>
            <a:spLocks xmlns:a="http://schemas.openxmlformats.org/drawingml/2006/main" noGrp="1"/>
          </p:cNvSpPr>
          <p:nvPr/>
        </p:nvSpPr>
        <p:spPr>
          <a:xfrm xmlns:a="http://schemas.openxmlformats.org/drawingml/2006/main">
            <a:off x="514350" y="342900"/>
            <a:ext cx="111633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3600" b="1">
                <a:solidFill>
                  <a:srgbClr val="050505"/>
                </a:solidFill>
                <a:latin typeface="Helvetica Neue"/>
                <a:ea typeface="Helvetica Neue"/>
                <a:cs typeface="Helvetica Neue"/>
              </a:defRPr>
            </a:pPr>
            <a:r>
              <a:rPr sz="3600" b="1">
                <a:solidFill>
                  <a:srgbClr val="050505"/>
                </a:solidFill>
                <a:latin typeface="Helvetica Neue"/>
                <a:ea typeface="Helvetica Neue"/>
                <a:cs typeface="Helvetica Neue"/>
              </a:rPr>
              <a:t>Guidance adapts to the learner’s current state</a:t>
            </a:r>
          </a:p>
        </p:txBody>
      </p:sp>
      <p:sp>
        <p:nvSpPr>
          <p:cNvPr id="2" name="slide-4-accent">
            <a:extLst xmlns:a="http://schemas.openxmlformats.org/drawingml/2006/main">
              <a:ext uri="{FF2B5EF4-FFF2-40B4-BE49-F238E27FC236}">
                <a16:creationId xmlns:a16="http://schemas.microsoft.com/office/drawing/2014/main" id="{2734D6CF-514C-4D32-B0A8-A791380734CE}"/>
              </a:ext>
            </a:extLst>
          </p:cNvPr>
          <p:cNvSpPr>
            <a:spLocks xmlns:a="http://schemas.openxmlformats.org/drawingml/2006/main" noGrp="1"/>
          </p:cNvSpPr>
          <p:nvPr/>
        </p:nvSpPr>
        <p:spPr>
          <a:xfrm xmlns:a="http://schemas.openxmlformats.org/drawingml/2006/main">
            <a:off x="514350" y="1162050"/>
            <a:ext cx="914400" cy="47625"/>
          </a:xfrm>
          <a:prstGeom xmlns:a="http://schemas.openxmlformats.org/drawingml/2006/main" prst="rect">
            <a:avLst/>
          </a:prstGeom>
          <a:solidFill xmlns:a="http://schemas.openxmlformats.org/drawingml/2006/main">
            <a:srgbClr val="1BA7D1"/>
          </a:solidFill>
          <a:ln xmlns:a="http://schemas.openxmlformats.org/drawingml/2006/main" w="0">
            <a:noFill/>
            <a:prstDash val="solid"/>
          </a:ln>
        </p:spPr>
      </p:sp>
      <p:sp>
        <p:nvSpPr>
          <p:cNvPr id="3" name="s4-connector-0">
            <a:extLst xmlns:a="http://schemas.openxmlformats.org/drawingml/2006/main">
              <a:ext uri="{FF2B5EF4-FFF2-40B4-BE49-F238E27FC236}">
                <a16:creationId xmlns:a16="http://schemas.microsoft.com/office/drawing/2014/main" id="{255647C3-8A7D-488B-9878-49E1CC7ADAF6}"/>
              </a:ext>
            </a:extLst>
          </p:cNvPr>
          <p:cNvSpPr>
            <a:spLocks xmlns:a="http://schemas.openxmlformats.org/drawingml/2006/main" noGrp="1"/>
          </p:cNvSpPr>
          <p:nvPr/>
        </p:nvSpPr>
        <p:spPr>
          <a:xfrm xmlns:a="http://schemas.openxmlformats.org/drawingml/2006/main">
            <a:off x="2724150" y="3009900"/>
            <a:ext cx="495300" cy="28575"/>
          </a:xfrm>
          <a:prstGeom xmlns:a="http://schemas.openxmlformats.org/drawingml/2006/main" prst="rect">
            <a:avLst/>
          </a:prstGeom>
          <a:solidFill xmlns:a="http://schemas.openxmlformats.org/drawingml/2006/main">
            <a:srgbClr val="1BA7D1"/>
          </a:solidFill>
          <a:ln xmlns:a="http://schemas.openxmlformats.org/drawingml/2006/main" w="0">
            <a:noFill/>
            <a:prstDash val="solid"/>
          </a:ln>
        </p:spPr>
      </p:sp>
      <p:sp>
        <p:nvSpPr>
          <p:cNvPr id="4" name="s4-connector-1">
            <a:extLst xmlns:a="http://schemas.openxmlformats.org/drawingml/2006/main">
              <a:ext uri="{FF2B5EF4-FFF2-40B4-BE49-F238E27FC236}">
                <a16:creationId xmlns:a16="http://schemas.microsoft.com/office/drawing/2014/main" id="{6E35E3A1-EBA6-4800-BBF8-1882E90E51B2}"/>
              </a:ext>
            </a:extLst>
          </p:cNvPr>
          <p:cNvSpPr>
            <a:spLocks xmlns:a="http://schemas.openxmlformats.org/drawingml/2006/main" noGrp="1"/>
          </p:cNvSpPr>
          <p:nvPr/>
        </p:nvSpPr>
        <p:spPr>
          <a:xfrm xmlns:a="http://schemas.openxmlformats.org/drawingml/2006/main">
            <a:off x="5429250" y="3009900"/>
            <a:ext cx="495300" cy="28575"/>
          </a:xfrm>
          <a:prstGeom xmlns:a="http://schemas.openxmlformats.org/drawingml/2006/main" prst="rect">
            <a:avLst/>
          </a:prstGeom>
          <a:solidFill xmlns:a="http://schemas.openxmlformats.org/drawingml/2006/main">
            <a:srgbClr val="1BA7D1"/>
          </a:solidFill>
          <a:ln xmlns:a="http://schemas.openxmlformats.org/drawingml/2006/main" w="0">
            <a:noFill/>
            <a:prstDash val="solid"/>
          </a:ln>
        </p:spPr>
      </p:sp>
      <p:sp>
        <p:nvSpPr>
          <p:cNvPr id="5" name="s4-connector-2">
            <a:extLst xmlns:a="http://schemas.openxmlformats.org/drawingml/2006/main">
              <a:ext uri="{FF2B5EF4-FFF2-40B4-BE49-F238E27FC236}">
                <a16:creationId xmlns:a16="http://schemas.microsoft.com/office/drawing/2014/main" id="{E714C9BD-3155-4771-B8D5-443CA7D2215C}"/>
              </a:ext>
            </a:extLst>
          </p:cNvPr>
          <p:cNvSpPr>
            <a:spLocks xmlns:a="http://schemas.openxmlformats.org/drawingml/2006/main" noGrp="1"/>
          </p:cNvSpPr>
          <p:nvPr/>
        </p:nvSpPr>
        <p:spPr>
          <a:xfrm xmlns:a="http://schemas.openxmlformats.org/drawingml/2006/main">
            <a:off x="8134350" y="3009900"/>
            <a:ext cx="495300" cy="28575"/>
          </a:xfrm>
          <a:prstGeom xmlns:a="http://schemas.openxmlformats.org/drawingml/2006/main" prst="rect">
            <a:avLst/>
          </a:prstGeom>
          <a:solidFill xmlns:a="http://schemas.openxmlformats.org/drawingml/2006/main">
            <a:srgbClr val="1BA7D1"/>
          </a:solidFill>
          <a:ln xmlns:a="http://schemas.openxmlformats.org/drawingml/2006/main" w="0">
            <a:noFill/>
            <a:prstDash val="solid"/>
          </a:ln>
        </p:spPr>
      </p:sp>
      <p:sp>
        <p:nvSpPr>
          <p:cNvPr id="6" name="s4-node-0">
            <a:extLst xmlns:a="http://schemas.openxmlformats.org/drawingml/2006/main">
              <a:ext uri="{FF2B5EF4-FFF2-40B4-BE49-F238E27FC236}">
                <a16:creationId xmlns:a16="http://schemas.microsoft.com/office/drawing/2014/main" id="{C378EA9E-1A56-44C4-975E-95D12FF60720}"/>
              </a:ext>
            </a:extLst>
          </p:cNvPr>
          <p:cNvSpPr>
            <a:spLocks xmlns:a="http://schemas.openxmlformats.org/drawingml/2006/main" noGrp="1"/>
          </p:cNvSpPr>
          <p:nvPr/>
        </p:nvSpPr>
        <p:spPr>
          <a:xfrm xmlns:a="http://schemas.openxmlformats.org/drawingml/2006/main">
            <a:off x="514350" y="2286000"/>
            <a:ext cx="2209800" cy="1485900"/>
          </a:xfrm>
          <a:prstGeom xmlns:a="http://schemas.openxmlformats.org/drawingml/2006/main" prst="roundRect">
            <a:avLst>
              <a:gd name="adj" fmla="val 5128"/>
            </a:avLst>
          </a:prstGeom>
          <a:solidFill xmlns:a="http://schemas.openxmlformats.org/drawingml/2006/main">
            <a:srgbClr val="F6F7F8"/>
          </a:solidFill>
          <a:ln xmlns:a="http://schemas.openxmlformats.org/drawingml/2006/main" w="9525">
            <a:solidFill>
              <a:srgbClr val="B8BCC4"/>
            </a:solidFill>
            <a:prstDash val="solid"/>
          </a:ln>
        </p:spPr>
      </p:sp>
      <p:sp>
        <p:nvSpPr>
          <p:cNvPr id="7" name="s4-node-title-0">
            <a:extLst xmlns:a="http://schemas.openxmlformats.org/drawingml/2006/main">
              <a:ext uri="{FF2B5EF4-FFF2-40B4-BE49-F238E27FC236}">
                <a16:creationId xmlns:a16="http://schemas.microsoft.com/office/drawing/2014/main" id="{31C5B2B1-6198-4E80-9A21-7DB979DD886D}"/>
              </a:ext>
            </a:extLst>
          </p:cNvPr>
          <p:cNvSpPr>
            <a:spLocks xmlns:a="http://schemas.openxmlformats.org/drawingml/2006/main" noGrp="1"/>
          </p:cNvSpPr>
          <p:nvPr/>
        </p:nvSpPr>
        <p:spPr>
          <a:xfrm xmlns:a="http://schemas.openxmlformats.org/drawingml/2006/main">
            <a:off x="685800" y="2476500"/>
            <a:ext cx="1866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316"/>
          </a:bodyPr>
          <a:lstStyle xmlns:a="http://schemas.openxmlformats.org/drawingml/2006/main"/>
          <a:p xmlns:a="http://schemas.openxmlformats.org/drawingml/2006/main">
            <a:pPr algn="l">
              <a:lnSpc>
                <a:spcPct val="102000"/>
              </a:lnSpc>
              <a:buNone/>
              <a:defRPr sz="1350" b="1">
                <a:solidFill>
                  <a:srgbClr val="1BA7D1"/>
                </a:solidFill>
                <a:latin typeface="Helvetica Neue"/>
                <a:ea typeface="Helvetica Neue"/>
                <a:cs typeface="Helvetica Neue"/>
              </a:defRPr>
            </a:pPr>
            <a:r>
              <a:rPr sz="1350" b="1">
                <a:solidFill>
                  <a:srgbClr val="1BA7D1"/>
                </a:solidFill>
                <a:latin typeface="Helvetica Neue"/>
                <a:ea typeface="Helvetica Neue"/>
                <a:cs typeface="Helvetica Neue"/>
              </a:rPr>
              <a:t>HAND-TRACKED ACTION</a:t>
            </a:r>
          </a:p>
        </p:txBody>
      </p:sp>
      <p:sp>
        <p:nvSpPr>
          <p:cNvPr id="8" name="s4-node-body-0">
            <a:extLst xmlns:a="http://schemas.openxmlformats.org/drawingml/2006/main">
              <a:ext uri="{FF2B5EF4-FFF2-40B4-BE49-F238E27FC236}">
                <a16:creationId xmlns:a16="http://schemas.microsoft.com/office/drawing/2014/main" id="{89BFCAA8-65C7-4880-985A-7D3C2B1FC4DB}"/>
              </a:ext>
            </a:extLst>
          </p:cNvPr>
          <p:cNvSpPr>
            <a:spLocks xmlns:a="http://schemas.openxmlformats.org/drawingml/2006/main" noGrp="1"/>
          </p:cNvSpPr>
          <p:nvPr/>
        </p:nvSpPr>
        <p:spPr>
          <a:xfrm xmlns:a="http://schemas.openxmlformats.org/drawingml/2006/main">
            <a:off x="685800" y="2952750"/>
            <a:ext cx="18669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500" b="0">
                <a:solidFill>
                  <a:srgbClr val="050505"/>
                </a:solidFill>
                <a:latin typeface="Helvetica Neue"/>
                <a:ea typeface="Helvetica Neue"/>
                <a:cs typeface="Helvetica Neue"/>
              </a:defRPr>
            </a:pPr>
            <a:r>
              <a:rPr sz="1500" b="0">
                <a:solidFill>
                  <a:srgbClr val="050505"/>
                </a:solidFill>
                <a:latin typeface="Helvetica Neue"/>
                <a:ea typeface="Helvetica Neue"/>
                <a:cs typeface="Helvetica Neue"/>
              </a:rPr>
              <a:t>Grab, rotate, press, snap, feed</a:t>
            </a:r>
          </a:p>
        </p:txBody>
      </p:sp>
      <p:sp>
        <p:nvSpPr>
          <p:cNvPr id="9" name="s4-node-1">
            <a:extLst xmlns:a="http://schemas.openxmlformats.org/drawingml/2006/main">
              <a:ext uri="{FF2B5EF4-FFF2-40B4-BE49-F238E27FC236}">
                <a16:creationId xmlns:a16="http://schemas.microsoft.com/office/drawing/2014/main" id="{8A048F49-8C94-4338-BD54-AD244A8500FD}"/>
              </a:ext>
            </a:extLst>
          </p:cNvPr>
          <p:cNvSpPr>
            <a:spLocks xmlns:a="http://schemas.openxmlformats.org/drawingml/2006/main" noGrp="1"/>
          </p:cNvSpPr>
          <p:nvPr/>
        </p:nvSpPr>
        <p:spPr>
          <a:xfrm xmlns:a="http://schemas.openxmlformats.org/drawingml/2006/main">
            <a:off x="3219450" y="2286000"/>
            <a:ext cx="2209800" cy="1485900"/>
          </a:xfrm>
          <a:prstGeom xmlns:a="http://schemas.openxmlformats.org/drawingml/2006/main" prst="roundRect">
            <a:avLst>
              <a:gd name="adj" fmla="val 5128"/>
            </a:avLst>
          </a:prstGeom>
          <a:solidFill xmlns:a="http://schemas.openxmlformats.org/drawingml/2006/main">
            <a:srgbClr val="F6F7F8"/>
          </a:solidFill>
          <a:ln xmlns:a="http://schemas.openxmlformats.org/drawingml/2006/main" w="9525">
            <a:solidFill>
              <a:srgbClr val="B8BCC4"/>
            </a:solidFill>
            <a:prstDash val="solid"/>
          </a:ln>
        </p:spPr>
      </p:sp>
      <p:sp>
        <p:nvSpPr>
          <p:cNvPr id="10" name="s4-node-title-1">
            <a:extLst xmlns:a="http://schemas.openxmlformats.org/drawingml/2006/main">
              <a:ext uri="{FF2B5EF4-FFF2-40B4-BE49-F238E27FC236}">
                <a16:creationId xmlns:a16="http://schemas.microsoft.com/office/drawing/2014/main" id="{9668C82F-5ADE-4CA3-9061-8F8B5180621B}"/>
              </a:ext>
            </a:extLst>
          </p:cNvPr>
          <p:cNvSpPr>
            <a:spLocks xmlns:a="http://schemas.openxmlformats.org/drawingml/2006/main" noGrp="1"/>
          </p:cNvSpPr>
          <p:nvPr/>
        </p:nvSpPr>
        <p:spPr>
          <a:xfrm xmlns:a="http://schemas.openxmlformats.org/drawingml/2006/main">
            <a:off x="3390900" y="2476500"/>
            <a:ext cx="1866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350" b="1">
                <a:solidFill>
                  <a:srgbClr val="1BA7D1"/>
                </a:solidFill>
                <a:latin typeface="Helvetica Neue"/>
                <a:ea typeface="Helvetica Neue"/>
                <a:cs typeface="Helvetica Neue"/>
              </a:defRPr>
            </a:pPr>
            <a:r>
              <a:rPr sz="1350" b="1">
                <a:solidFill>
                  <a:srgbClr val="1BA7D1"/>
                </a:solidFill>
                <a:latin typeface="Helvetica Neue"/>
                <a:ea typeface="Helvetica Neue"/>
                <a:cs typeface="Helvetica Neue"/>
              </a:rPr>
              <a:t>PROCEDURE STATE</a:t>
            </a:r>
          </a:p>
        </p:txBody>
      </p:sp>
      <p:sp>
        <p:nvSpPr>
          <p:cNvPr id="11" name="s4-node-body-1">
            <a:extLst xmlns:a="http://schemas.openxmlformats.org/drawingml/2006/main">
              <a:ext uri="{FF2B5EF4-FFF2-40B4-BE49-F238E27FC236}">
                <a16:creationId xmlns:a16="http://schemas.microsoft.com/office/drawing/2014/main" id="{DE48D068-E914-442D-9D02-D071E78D45FA}"/>
              </a:ext>
            </a:extLst>
          </p:cNvPr>
          <p:cNvSpPr>
            <a:spLocks xmlns:a="http://schemas.openxmlformats.org/drawingml/2006/main" noGrp="1"/>
          </p:cNvSpPr>
          <p:nvPr/>
        </p:nvSpPr>
        <p:spPr>
          <a:xfrm xmlns:a="http://schemas.openxmlformats.org/drawingml/2006/main">
            <a:off x="3390900" y="2952750"/>
            <a:ext cx="18669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2593"/>
          </a:bodyPr>
          <a:lstStyle xmlns:a="http://schemas.openxmlformats.org/drawingml/2006/main"/>
          <a:p xmlns:a="http://schemas.openxmlformats.org/drawingml/2006/main">
            <a:pPr algn="l">
              <a:lnSpc>
                <a:spcPct val="102000"/>
              </a:lnSpc>
              <a:buNone/>
              <a:defRPr sz="1500" b="0">
                <a:solidFill>
                  <a:srgbClr val="050505"/>
                </a:solidFill>
                <a:latin typeface="Helvetica Neue"/>
                <a:ea typeface="Helvetica Neue"/>
                <a:cs typeface="Helvetica Neue"/>
              </a:defRPr>
            </a:pPr>
            <a:r>
              <a:rPr sz="1500" b="0">
                <a:solidFill>
                  <a:srgbClr val="050505"/>
                </a:solidFill>
                <a:latin typeface="Helvetica Neue"/>
                <a:ea typeface="Helvetica Neue"/>
                <a:cs typeface="Helvetica Neue"/>
              </a:rPr>
              <a:t>Validate gates and unlock only what is relevant</a:t>
            </a:r>
          </a:p>
        </p:txBody>
      </p:sp>
      <p:sp>
        <p:nvSpPr>
          <p:cNvPr id="12" name="s4-node-2">
            <a:extLst xmlns:a="http://schemas.openxmlformats.org/drawingml/2006/main">
              <a:ext uri="{FF2B5EF4-FFF2-40B4-BE49-F238E27FC236}">
                <a16:creationId xmlns:a16="http://schemas.microsoft.com/office/drawing/2014/main" id="{5DAB7D67-A549-45FF-8ADB-A1ECD616A90F}"/>
              </a:ext>
            </a:extLst>
          </p:cNvPr>
          <p:cNvSpPr>
            <a:spLocks xmlns:a="http://schemas.openxmlformats.org/drawingml/2006/main" noGrp="1"/>
          </p:cNvSpPr>
          <p:nvPr/>
        </p:nvSpPr>
        <p:spPr>
          <a:xfrm xmlns:a="http://schemas.openxmlformats.org/drawingml/2006/main">
            <a:off x="5924550" y="2286000"/>
            <a:ext cx="2209800" cy="1485900"/>
          </a:xfrm>
          <a:prstGeom xmlns:a="http://schemas.openxmlformats.org/drawingml/2006/main" prst="roundRect">
            <a:avLst>
              <a:gd name="adj" fmla="val 5128"/>
            </a:avLst>
          </a:prstGeom>
          <a:solidFill xmlns:a="http://schemas.openxmlformats.org/drawingml/2006/main">
            <a:srgbClr val="F6F7F8"/>
          </a:solidFill>
          <a:ln xmlns:a="http://schemas.openxmlformats.org/drawingml/2006/main" w="9525">
            <a:solidFill>
              <a:srgbClr val="B8BCC4"/>
            </a:solidFill>
            <a:prstDash val="solid"/>
          </a:ln>
        </p:spPr>
      </p:sp>
      <p:sp>
        <p:nvSpPr>
          <p:cNvPr id="13" name="s4-node-title-2">
            <a:extLst xmlns:a="http://schemas.openxmlformats.org/drawingml/2006/main">
              <a:ext uri="{FF2B5EF4-FFF2-40B4-BE49-F238E27FC236}">
                <a16:creationId xmlns:a16="http://schemas.microsoft.com/office/drawing/2014/main" id="{ED38877B-ADD7-42E6-8625-3CFD8553BFA8}"/>
              </a:ext>
            </a:extLst>
          </p:cNvPr>
          <p:cNvSpPr>
            <a:spLocks xmlns:a="http://schemas.openxmlformats.org/drawingml/2006/main" noGrp="1"/>
          </p:cNvSpPr>
          <p:nvPr/>
        </p:nvSpPr>
        <p:spPr>
          <a:xfrm xmlns:a="http://schemas.openxmlformats.org/drawingml/2006/main">
            <a:off x="6096000" y="2476500"/>
            <a:ext cx="1866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408"/>
          </a:bodyPr>
          <a:lstStyle xmlns:a="http://schemas.openxmlformats.org/drawingml/2006/main"/>
          <a:p xmlns:a="http://schemas.openxmlformats.org/drawingml/2006/main">
            <a:pPr algn="l">
              <a:lnSpc>
                <a:spcPct val="102000"/>
              </a:lnSpc>
              <a:buNone/>
              <a:defRPr sz="1350" b="1">
                <a:solidFill>
                  <a:srgbClr val="1BA7D1"/>
                </a:solidFill>
                <a:latin typeface="Helvetica Neue"/>
                <a:ea typeface="Helvetica Neue"/>
                <a:cs typeface="Helvetica Neue"/>
              </a:defRPr>
            </a:pPr>
            <a:r>
              <a:rPr sz="1350" b="1">
                <a:solidFill>
                  <a:srgbClr val="1BA7D1"/>
                </a:solidFill>
                <a:latin typeface="Helvetica Neue"/>
                <a:ea typeface="Helvetica Neue"/>
                <a:cs typeface="Helvetica Neue"/>
              </a:rPr>
              <a:t>REAL-TIME RESPONSE</a:t>
            </a:r>
          </a:p>
        </p:txBody>
      </p:sp>
      <p:sp>
        <p:nvSpPr>
          <p:cNvPr id="14" name="s4-node-body-2">
            <a:extLst xmlns:a="http://schemas.openxmlformats.org/drawingml/2006/main">
              <a:ext uri="{FF2B5EF4-FFF2-40B4-BE49-F238E27FC236}">
                <a16:creationId xmlns:a16="http://schemas.microsoft.com/office/drawing/2014/main" id="{F7AAC2DE-E82C-4B6C-8710-C4453C2B211F}"/>
              </a:ext>
            </a:extLst>
          </p:cNvPr>
          <p:cNvSpPr>
            <a:spLocks xmlns:a="http://schemas.openxmlformats.org/drawingml/2006/main" noGrp="1"/>
          </p:cNvSpPr>
          <p:nvPr/>
        </p:nvSpPr>
        <p:spPr>
          <a:xfrm xmlns:a="http://schemas.openxmlformats.org/drawingml/2006/main">
            <a:off x="6096000" y="2952750"/>
            <a:ext cx="18669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500" b="0">
                <a:solidFill>
                  <a:srgbClr val="050505"/>
                </a:solidFill>
                <a:latin typeface="Helvetica Neue"/>
                <a:ea typeface="Helvetica Neue"/>
                <a:cs typeface="Helvetica Neue"/>
              </a:defRPr>
            </a:pPr>
            <a:r>
              <a:rPr sz="1500" b="0">
                <a:solidFill>
                  <a:srgbClr val="050505"/>
                </a:solidFill>
                <a:latin typeface="Helvetica Neue"/>
                <a:ea typeface="Helvetica Neue"/>
                <a:cs typeface="Helvetica Neue"/>
              </a:rPr>
              <a:t>Gas, heat, materials, growth, cooldown</a:t>
            </a:r>
          </a:p>
        </p:txBody>
      </p:sp>
      <p:sp>
        <p:nvSpPr>
          <p:cNvPr id="15" name="s4-node-3">
            <a:extLst xmlns:a="http://schemas.openxmlformats.org/drawingml/2006/main">
              <a:ext uri="{FF2B5EF4-FFF2-40B4-BE49-F238E27FC236}">
                <a16:creationId xmlns:a16="http://schemas.microsoft.com/office/drawing/2014/main" id="{AA0A19BE-3CFD-435F-B836-060B8661B479}"/>
              </a:ext>
            </a:extLst>
          </p:cNvPr>
          <p:cNvSpPr>
            <a:spLocks xmlns:a="http://schemas.openxmlformats.org/drawingml/2006/main" noGrp="1"/>
          </p:cNvSpPr>
          <p:nvPr/>
        </p:nvSpPr>
        <p:spPr>
          <a:xfrm xmlns:a="http://schemas.openxmlformats.org/drawingml/2006/main">
            <a:off x="8629650" y="2286000"/>
            <a:ext cx="3048000" cy="1485900"/>
          </a:xfrm>
          <a:prstGeom xmlns:a="http://schemas.openxmlformats.org/drawingml/2006/main" prst="roundRect">
            <a:avLst>
              <a:gd name="adj" fmla="val 5128"/>
            </a:avLst>
          </a:prstGeom>
          <a:solidFill xmlns:a="http://schemas.openxmlformats.org/drawingml/2006/main">
            <a:srgbClr val="101417"/>
          </a:solidFill>
          <a:ln xmlns:a="http://schemas.openxmlformats.org/drawingml/2006/main" w="9525">
            <a:solidFill>
              <a:srgbClr val="101417"/>
            </a:solidFill>
            <a:prstDash val="solid"/>
          </a:ln>
        </p:spPr>
      </p:sp>
      <p:sp>
        <p:nvSpPr>
          <p:cNvPr id="16" name="s4-node-title-3">
            <a:extLst xmlns:a="http://schemas.openxmlformats.org/drawingml/2006/main">
              <a:ext uri="{FF2B5EF4-FFF2-40B4-BE49-F238E27FC236}">
                <a16:creationId xmlns:a16="http://schemas.microsoft.com/office/drawing/2014/main" id="{C9E3AA94-57DB-43C2-9EDC-3934BCF935B1}"/>
              </a:ext>
            </a:extLst>
          </p:cNvPr>
          <p:cNvSpPr>
            <a:spLocks xmlns:a="http://schemas.openxmlformats.org/drawingml/2006/main" noGrp="1"/>
          </p:cNvSpPr>
          <p:nvPr/>
        </p:nvSpPr>
        <p:spPr>
          <a:xfrm xmlns:a="http://schemas.openxmlformats.org/drawingml/2006/main">
            <a:off x="8801100" y="2476500"/>
            <a:ext cx="2705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350" b="1">
                <a:solidFill>
                  <a:srgbClr val="6DCBF4"/>
                </a:solidFill>
                <a:latin typeface="Helvetica Neue"/>
                <a:ea typeface="Helvetica Neue"/>
                <a:cs typeface="Helvetica Neue"/>
              </a:defRPr>
            </a:pPr>
            <a:r>
              <a:rPr sz="1350" b="1">
                <a:solidFill>
                  <a:srgbClr val="6DCBF4"/>
                </a:solidFill>
                <a:latin typeface="Helvetica Neue"/>
                <a:ea typeface="Helvetica Neue"/>
                <a:cs typeface="Helvetica Neue"/>
              </a:rPr>
              <a:t>MULTIMODAL GUIDANCE</a:t>
            </a:r>
          </a:p>
        </p:txBody>
      </p:sp>
      <p:sp>
        <p:nvSpPr>
          <p:cNvPr id="17" name="s4-node-body-3">
            <a:extLst xmlns:a="http://schemas.openxmlformats.org/drawingml/2006/main">
              <a:ext uri="{FF2B5EF4-FFF2-40B4-BE49-F238E27FC236}">
                <a16:creationId xmlns:a16="http://schemas.microsoft.com/office/drawing/2014/main" id="{BF126478-FDF6-49AF-9964-43037BA3EBB5}"/>
              </a:ext>
            </a:extLst>
          </p:cNvPr>
          <p:cNvSpPr>
            <a:spLocks xmlns:a="http://schemas.openxmlformats.org/drawingml/2006/main" noGrp="1"/>
          </p:cNvSpPr>
          <p:nvPr/>
        </p:nvSpPr>
        <p:spPr>
          <a:xfrm xmlns:a="http://schemas.openxmlformats.org/drawingml/2006/main">
            <a:off x="8801100" y="2952750"/>
            <a:ext cx="2705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466"/>
          </a:bodyPr>
          <a:lstStyle xmlns:a="http://schemas.openxmlformats.org/drawingml/2006/main"/>
          <a:p xmlns:a="http://schemas.openxmlformats.org/drawingml/2006/main">
            <a:pPr algn="l">
              <a:lnSpc>
                <a:spcPct val="102000"/>
              </a:lnSpc>
              <a:buNone/>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Instruction panel, spatial arrow, audio feedback, synchronized hologram view</a:t>
            </a:r>
          </a:p>
        </p:txBody>
      </p:sp>
      <p:sp>
        <p:nvSpPr>
          <p:cNvPr id="18" name="s4-rule-based">
            <a:extLst xmlns:a="http://schemas.openxmlformats.org/drawingml/2006/main">
              <a:ext uri="{FF2B5EF4-FFF2-40B4-BE49-F238E27FC236}">
                <a16:creationId xmlns:a16="http://schemas.microsoft.com/office/drawing/2014/main" id="{D2431CC1-D286-481D-BC7F-A17F5C7F701B}"/>
              </a:ext>
            </a:extLst>
          </p:cNvPr>
          <p:cNvSpPr>
            <a:spLocks xmlns:a="http://schemas.openxmlformats.org/drawingml/2006/main" noGrp="1"/>
          </p:cNvSpPr>
          <p:nvPr/>
        </p:nvSpPr>
        <p:spPr>
          <a:xfrm xmlns:a="http://schemas.openxmlformats.org/drawingml/2006/main">
            <a:off x="514350" y="4229100"/>
            <a:ext cx="447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350" b="1">
                <a:solidFill>
                  <a:srgbClr val="5D6670"/>
                </a:solidFill>
                <a:latin typeface="Helvetica Neue"/>
                <a:ea typeface="Helvetica Neue"/>
                <a:cs typeface="Helvetica Neue"/>
              </a:defRPr>
            </a:pPr>
            <a:r>
              <a:rPr sz="1350" b="1">
                <a:solidFill>
                  <a:srgbClr val="5D6670"/>
                </a:solidFill>
                <a:latin typeface="Helvetica Neue"/>
                <a:ea typeface="Helvetica Neue"/>
                <a:cs typeface="Helvetica Neue"/>
              </a:rPr>
              <a:t>Rules-based adaptation—not an AI claim</a:t>
            </a:r>
          </a:p>
        </p:txBody>
      </p:sp>
      <p:sp>
        <p:nvSpPr>
          <p:cNvPr id="19" name="s4-why">
            <a:extLst xmlns:a="http://schemas.openxmlformats.org/drawingml/2006/main">
              <a:ext uri="{FF2B5EF4-FFF2-40B4-BE49-F238E27FC236}">
                <a16:creationId xmlns:a16="http://schemas.microsoft.com/office/drawing/2014/main" id="{D33408B9-F922-417E-999F-DD9BDFABE324}"/>
              </a:ext>
            </a:extLst>
          </p:cNvPr>
          <p:cNvSpPr>
            <a:spLocks xmlns:a="http://schemas.openxmlformats.org/drawingml/2006/main" noGrp="1"/>
          </p:cNvSpPr>
          <p:nvPr/>
        </p:nvSpPr>
        <p:spPr>
          <a:xfrm xmlns:a="http://schemas.openxmlformats.org/drawingml/2006/main">
            <a:off x="514350" y="4572000"/>
            <a:ext cx="75247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875" b="1">
                <a:solidFill>
                  <a:srgbClr val="050505"/>
                </a:solidFill>
                <a:latin typeface="Helvetica Neue"/>
                <a:ea typeface="Helvetica Neue"/>
                <a:cs typeface="Helvetica Neue"/>
              </a:defRPr>
            </a:pPr>
            <a:r>
              <a:rPr sz="1875" b="1">
                <a:solidFill>
                  <a:srgbClr val="050505"/>
                </a:solidFill>
                <a:latin typeface="Helvetica Neue"/>
                <a:ea typeface="Helvetica Neue"/>
                <a:cs typeface="Helvetica Neue"/>
              </a:rPr>
              <a:t>Unsafe or out-of-sequence actions cannot advance the task. The same configurable procedure state also changes control availability, progress, simulation feedback, and camera focus.</a:t>
            </a:r>
          </a:p>
        </p:txBody>
      </p:sp>
      <p:sp>
        <p:nvSpPr>
          <p:cNvPr id="20" name="s4-holo-bg">
            <a:extLst xmlns:a="http://schemas.openxmlformats.org/drawingml/2006/main">
              <a:ext uri="{FF2B5EF4-FFF2-40B4-BE49-F238E27FC236}">
                <a16:creationId xmlns:a16="http://schemas.microsoft.com/office/drawing/2014/main" id="{C16C183E-10B8-4737-94AE-CED59C8E8FA9}"/>
              </a:ext>
            </a:extLst>
          </p:cNvPr>
          <p:cNvSpPr>
            <a:spLocks xmlns:a="http://schemas.openxmlformats.org/drawingml/2006/main" noGrp="1"/>
          </p:cNvSpPr>
          <p:nvPr/>
        </p:nvSpPr>
        <p:spPr>
          <a:xfrm xmlns:a="http://schemas.openxmlformats.org/drawingml/2006/main">
            <a:off x="8629650" y="4267200"/>
            <a:ext cx="3048000" cy="1600200"/>
          </a:xfrm>
          <a:prstGeom xmlns:a="http://schemas.openxmlformats.org/drawingml/2006/main" prst="roundRect">
            <a:avLst>
              <a:gd name="adj" fmla="val 4762"/>
            </a:avLst>
          </a:prstGeom>
          <a:solidFill xmlns:a="http://schemas.openxmlformats.org/drawingml/2006/main">
            <a:srgbClr val="101417"/>
          </a:solidFill>
          <a:ln xmlns:a="http://schemas.openxmlformats.org/drawingml/2006/main" w="9525">
            <a:solidFill>
              <a:srgbClr val="B8BCC4"/>
            </a:solidFill>
            <a:prstDash val="solid"/>
          </a:ln>
        </p:spPr>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d7c16fcfce584ca4"/>
          <a:srcRect xmlns:a="http://schemas.openxmlformats.org/drawingml/2006/main" l="0" t="11818" r="0" b="11818"/>
          <a:stretch xmlns:a="http://schemas.openxmlformats.org/drawingml/2006/main">
            <a:fillRect l="0" t="0" r="0" b="0"/>
          </a:stretch>
        </p:blipFill>
        <p:spPr>
          <a:xfrm xmlns:a="http://schemas.openxmlformats.org/drawingml/2006/main">
            <a:off x="8629650" y="4267200"/>
            <a:ext cx="3048000" cy="1600200"/>
          </a:xfrm>
          <a:prstGeom xmlns:a="http://schemas.openxmlformats.org/drawingml/2006/main" prst="roundRect">
            <a:avLst>
              <a:gd name="adj" fmla="val 4762"/>
            </a:avLst>
          </a:prstGeom>
        </p:spPr>
      </p:pic>
      <p:sp>
        <p:nvSpPr>
          <p:cNvPr id="22" name="s4-stack">
            <a:extLst xmlns:a="http://schemas.openxmlformats.org/drawingml/2006/main">
              <a:ext uri="{FF2B5EF4-FFF2-40B4-BE49-F238E27FC236}">
                <a16:creationId xmlns:a16="http://schemas.microsoft.com/office/drawing/2014/main" id="{8B6CF264-EA41-4D2D-A8D1-8522CDA6A15D}"/>
              </a:ext>
            </a:extLst>
          </p:cNvPr>
          <p:cNvSpPr>
            <a:spLocks xmlns:a="http://schemas.openxmlformats.org/drawingml/2006/main" noGrp="1"/>
          </p:cNvSpPr>
          <p:nvPr/>
        </p:nvSpPr>
        <p:spPr>
          <a:xfrm xmlns:a="http://schemas.openxmlformats.org/drawingml/2006/main">
            <a:off x="514350" y="6000750"/>
            <a:ext cx="7524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350" b="1">
                <a:solidFill>
                  <a:srgbClr val="5D6670"/>
                </a:solidFill>
                <a:latin typeface="Helvetica Neue"/>
                <a:ea typeface="Helvetica Neue"/>
                <a:cs typeface="Helvetica Neue"/>
              </a:defRPr>
            </a:pPr>
            <a:r>
              <a:rPr sz="1350" b="1">
                <a:solidFill>
                  <a:srgbClr val="5D6670"/>
                </a:solidFill>
                <a:latin typeface="Helvetica Neue"/>
                <a:ea typeface="Helvetica Neue"/>
                <a:cs typeface="Helvetica Neue"/>
              </a:rPr>
              <a:t>Unity 6 • Meta XR • XR Hands/XRI • URP • WebRTC compositor</a:t>
            </a:r>
          </a:p>
        </p:txBody>
      </p:sp>
      <p:sp>
        <p:nvSpPr>
          <p:cNvPr id="23" name="slide-4-footer-left">
            <a:extLst xmlns:a="http://schemas.openxmlformats.org/drawingml/2006/main">
              <a:ext uri="{FF2B5EF4-FFF2-40B4-BE49-F238E27FC236}">
                <a16:creationId xmlns:a16="http://schemas.microsoft.com/office/drawing/2014/main" id="{3B28AF83-74A5-448F-A06A-4FBF15A23992}"/>
              </a:ext>
            </a:extLst>
          </p:cNvPr>
          <p:cNvSpPr>
            <a:spLocks xmlns:a="http://schemas.openxmlformats.org/drawingml/2006/main" noGrp="1"/>
          </p:cNvSpPr>
          <p:nvPr/>
        </p:nvSpPr>
        <p:spPr>
          <a:xfrm xmlns:a="http://schemas.openxmlformats.org/drawingml/2006/main">
            <a:off x="514350" y="6486525"/>
            <a:ext cx="409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2000"/>
              </a:lnSpc>
              <a:buNone/>
              <a:defRPr sz="900" b="1">
                <a:solidFill>
                  <a:srgbClr val="5D6670"/>
                </a:solidFill>
                <a:latin typeface="Helvetica Neue"/>
                <a:ea typeface="Helvetica Neue"/>
                <a:cs typeface="Helvetica Neue"/>
              </a:defRPr>
            </a:pPr>
            <a:r>
              <a:rPr sz="900" b="1">
                <a:solidFill>
                  <a:srgbClr val="5D6670"/>
                </a:solidFill>
                <a:latin typeface="Helvetica Neue"/>
                <a:ea typeface="Helvetica Neue"/>
                <a:cs typeface="Helvetica Neue"/>
              </a:rPr>
              <a:t>LABSPACE VR  •  ADVANCED LEARNING</a:t>
            </a:r>
          </a:p>
        </p:txBody>
      </p:sp>
      <p:sp>
        <p:nvSpPr>
          <p:cNvPr id="24" name="slide-4-footer-number">
            <a:extLst xmlns:a="http://schemas.openxmlformats.org/drawingml/2006/main">
              <a:ext uri="{FF2B5EF4-FFF2-40B4-BE49-F238E27FC236}">
                <a16:creationId xmlns:a16="http://schemas.microsoft.com/office/drawing/2014/main" id="{E7261581-F2DA-4114-AD71-D504587E80A7}"/>
              </a:ext>
            </a:extLst>
          </p:cNvPr>
          <p:cNvSpPr>
            <a:spLocks xmlns:a="http://schemas.openxmlformats.org/drawingml/2006/main" noGrp="1"/>
          </p:cNvSpPr>
          <p:nvPr/>
        </p:nvSpPr>
        <p:spPr>
          <a:xfrm xmlns:a="http://schemas.openxmlformats.org/drawingml/2006/main">
            <a:off x="11163300" y="643890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2000"/>
              </a:lnSpc>
              <a:buNone/>
              <a:defRPr sz="1050" b="1">
                <a:solidFill>
                  <a:srgbClr val="5D6670"/>
                </a:solidFill>
                <a:latin typeface="Helvetica Neue"/>
                <a:ea typeface="Helvetica Neue"/>
                <a:cs typeface="Helvetica Neue"/>
              </a:defRPr>
            </a:pPr>
            <a:r>
              <a:rPr sz="1050" b="1">
                <a:solidFill>
                  <a:srgbClr val="5D6670"/>
                </a:solidFill>
                <a:latin typeface="Helvetica Neue"/>
                <a:ea typeface="Helvetica Neue"/>
                <a:cs typeface="Helvetica Neue"/>
              </a:rPr>
              <a:t>04</a:t>
            </a:r>
          </a:p>
        </p:txBody>
      </p:sp>
    </p:spTree>
    <p:extLst>
      <p:ext uri="{BB962C8B-B14F-4D97-AF65-F5344CB8AC3E}">
        <p14:creationId xmlns:p14="http://schemas.microsoft.com/office/powerpoint/2010/main" val="124618876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slide-5-title">
            <a:extLst xmlns:a="http://schemas.openxmlformats.org/drawingml/2006/main">
              <a:ext uri="{FF2B5EF4-FFF2-40B4-BE49-F238E27FC236}">
                <a16:creationId xmlns:a16="http://schemas.microsoft.com/office/drawing/2014/main" id="{0C9309D7-5B1D-4B26-9230-E82F80EA6C43}"/>
              </a:ext>
            </a:extLst>
          </p:cNvPr>
          <p:cNvSpPr>
            <a:spLocks xmlns:a="http://schemas.openxmlformats.org/drawingml/2006/main" noGrp="1"/>
          </p:cNvSpPr>
          <p:nvPr/>
        </p:nvSpPr>
        <p:spPr>
          <a:xfrm xmlns:a="http://schemas.openxmlformats.org/drawingml/2006/main">
            <a:off x="514350" y="342900"/>
            <a:ext cx="111633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0183"/>
          </a:bodyPr>
          <a:lstStyle xmlns:a="http://schemas.openxmlformats.org/drawingml/2006/main"/>
          <a:p xmlns:a="http://schemas.openxmlformats.org/drawingml/2006/main">
            <a:pPr algn="l">
              <a:lnSpc>
                <a:spcPct val="94000"/>
              </a:lnSpc>
              <a:buNone/>
              <a:defRPr sz="3600" b="1">
                <a:solidFill>
                  <a:srgbClr val="050505"/>
                </a:solidFill>
                <a:latin typeface="Helvetica Neue"/>
                <a:ea typeface="Helvetica Neue"/>
                <a:cs typeface="Helvetica Neue"/>
              </a:defRPr>
            </a:pPr>
            <a:r>
              <a:rPr sz="3600" b="1">
                <a:solidFill>
                  <a:srgbClr val="050505"/>
                </a:solidFill>
                <a:latin typeface="Helvetica Neue"/>
                <a:ea typeface="Helvetica Neue"/>
                <a:cs typeface="Helvetica Neue"/>
              </a:rPr>
              <a:t>The prototype makes laboratory preparation safer, repeatable, and scalable</a:t>
            </a:r>
          </a:p>
        </p:txBody>
      </p:sp>
      <p:sp>
        <p:nvSpPr>
          <p:cNvPr id="2" name="slide-5-accent">
            <a:extLst xmlns:a="http://schemas.openxmlformats.org/drawingml/2006/main">
              <a:ext uri="{FF2B5EF4-FFF2-40B4-BE49-F238E27FC236}">
                <a16:creationId xmlns:a16="http://schemas.microsoft.com/office/drawing/2014/main" id="{8A64114D-016D-4CAC-90D6-4260DB4D74D8}"/>
              </a:ext>
            </a:extLst>
          </p:cNvPr>
          <p:cNvSpPr>
            <a:spLocks xmlns:a="http://schemas.openxmlformats.org/drawingml/2006/main" noGrp="1"/>
          </p:cNvSpPr>
          <p:nvPr/>
        </p:nvSpPr>
        <p:spPr>
          <a:xfrm xmlns:a="http://schemas.openxmlformats.org/drawingml/2006/main">
            <a:off x="514350" y="1162050"/>
            <a:ext cx="914400" cy="47625"/>
          </a:xfrm>
          <a:prstGeom xmlns:a="http://schemas.openxmlformats.org/drawingml/2006/main" prst="rect">
            <a:avLst/>
          </a:prstGeom>
          <a:solidFill xmlns:a="http://schemas.openxmlformats.org/drawingml/2006/main">
            <a:srgbClr val="1BA7D1"/>
          </a:solidFill>
          <a:ln xmlns:a="http://schemas.openxmlformats.org/drawingml/2006/main" w="0">
            <a:noFill/>
            <a:prstDash val="solid"/>
          </a:ln>
        </p:spPr>
      </p:sp>
      <p:sp>
        <p:nvSpPr>
          <p:cNvPr id="3" name="s5-lead">
            <a:extLst xmlns:a="http://schemas.openxmlformats.org/drawingml/2006/main">
              <a:ext uri="{FF2B5EF4-FFF2-40B4-BE49-F238E27FC236}">
                <a16:creationId xmlns:a16="http://schemas.microsoft.com/office/drawing/2014/main" id="{D5EBEB64-D18A-4F18-8818-4DE312F4636D}"/>
              </a:ext>
            </a:extLst>
          </p:cNvPr>
          <p:cNvSpPr>
            <a:spLocks xmlns:a="http://schemas.openxmlformats.org/drawingml/2006/main" noGrp="1"/>
          </p:cNvSpPr>
          <p:nvPr/>
        </p:nvSpPr>
        <p:spPr>
          <a:xfrm xmlns:a="http://schemas.openxmlformats.org/drawingml/2006/main">
            <a:off x="514350" y="1485900"/>
            <a:ext cx="876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2157"/>
          </a:bodyPr>
          <a:lstStyle xmlns:a="http://schemas.openxmlformats.org/drawingml/2006/main"/>
          <a:p xmlns:a="http://schemas.openxmlformats.org/drawingml/2006/main">
            <a:pPr algn="l">
              <a:lnSpc>
                <a:spcPct val="102000"/>
              </a:lnSpc>
              <a:buNone/>
              <a:defRPr sz="2025" b="1">
                <a:solidFill>
                  <a:srgbClr val="050505"/>
                </a:solidFill>
                <a:latin typeface="Helvetica Neue"/>
                <a:ea typeface="Helvetica Neue"/>
                <a:cs typeface="Helvetica Neue"/>
              </a:defRPr>
            </a:pPr>
            <a:r>
              <a:rPr sz="2025" b="1">
                <a:solidFill>
                  <a:srgbClr val="050505"/>
                </a:solidFill>
                <a:latin typeface="Helvetica Neue"/>
                <a:ea typeface="Helvetica Neue"/>
                <a:cs typeface="Helvetica Neue"/>
              </a:rPr>
              <a:t>Built for Meta Quest as a functional rehearsal environment—not a passive walkthrough.</a:t>
            </a:r>
          </a:p>
        </p:txBody>
      </p:sp>
      <p:sp>
        <p:nvSpPr>
          <p:cNvPr id="4" name="s5-panel-0">
            <a:extLst xmlns:a="http://schemas.openxmlformats.org/drawingml/2006/main">
              <a:ext uri="{FF2B5EF4-FFF2-40B4-BE49-F238E27FC236}">
                <a16:creationId xmlns:a16="http://schemas.microsoft.com/office/drawing/2014/main" id="{F7A73990-53A2-4BAC-8D25-B7F79AA47CDB}"/>
              </a:ext>
            </a:extLst>
          </p:cNvPr>
          <p:cNvSpPr>
            <a:spLocks xmlns:a="http://schemas.openxmlformats.org/drawingml/2006/main" noGrp="1"/>
          </p:cNvSpPr>
          <p:nvPr/>
        </p:nvSpPr>
        <p:spPr>
          <a:xfrm xmlns:a="http://schemas.openxmlformats.org/drawingml/2006/main">
            <a:off x="514350" y="2324100"/>
            <a:ext cx="3314700" cy="2590800"/>
          </a:xfrm>
          <a:prstGeom xmlns:a="http://schemas.openxmlformats.org/drawingml/2006/main" prst="rect">
            <a:avLst/>
          </a:prstGeom>
          <a:solidFill xmlns:a="http://schemas.openxmlformats.org/drawingml/2006/main">
            <a:srgbClr val="F6F7F8"/>
          </a:solidFill>
          <a:ln xmlns:a="http://schemas.openxmlformats.org/drawingml/2006/main" w="0">
            <a:noFill/>
            <a:prstDash val="solid"/>
          </a:ln>
        </p:spPr>
      </p:sp>
      <p:sp>
        <p:nvSpPr>
          <p:cNvPr id="5" name="s5-stat-0">
            <a:extLst xmlns:a="http://schemas.openxmlformats.org/drawingml/2006/main">
              <a:ext uri="{FF2B5EF4-FFF2-40B4-BE49-F238E27FC236}">
                <a16:creationId xmlns:a16="http://schemas.microsoft.com/office/drawing/2014/main" id="{9B2BA8FF-33D0-4486-AE2F-3DC6BAEE7428}"/>
              </a:ext>
            </a:extLst>
          </p:cNvPr>
          <p:cNvSpPr>
            <a:spLocks xmlns:a="http://schemas.openxmlformats.org/drawingml/2006/main" noGrp="1"/>
          </p:cNvSpPr>
          <p:nvPr/>
        </p:nvSpPr>
        <p:spPr>
          <a:xfrm xmlns:a="http://schemas.openxmlformats.org/drawingml/2006/main">
            <a:off x="742950" y="2571750"/>
            <a:ext cx="11430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5316"/>
          </a:bodyPr>
          <a:lstStyle xmlns:a="http://schemas.openxmlformats.org/drawingml/2006/main"/>
          <a:p xmlns:a="http://schemas.openxmlformats.org/drawingml/2006/main">
            <a:pPr algn="l">
              <a:lnSpc>
                <a:spcPct val="102000"/>
              </a:lnSpc>
              <a:buNone/>
              <a:defRPr sz="5400" b="1">
                <a:solidFill>
                  <a:srgbClr val="1BA7D1"/>
                </a:solidFill>
                <a:latin typeface="Helvetica Neue"/>
                <a:ea typeface="Helvetica Neue"/>
                <a:cs typeface="Helvetica Neue"/>
              </a:defRPr>
            </a:pPr>
            <a:r>
              <a:rPr sz="5400" b="1">
                <a:solidFill>
                  <a:srgbClr val="1BA7D1"/>
                </a:solidFill>
                <a:latin typeface="Helvetica Neue"/>
                <a:ea typeface="Helvetica Neue"/>
                <a:cs typeface="Helvetica Neue"/>
              </a:rPr>
              <a:t>13</a:t>
            </a:r>
          </a:p>
        </p:txBody>
      </p:sp>
      <p:sp>
        <p:nvSpPr>
          <p:cNvPr id="6" name="s5-label-0">
            <a:extLst xmlns:a="http://schemas.openxmlformats.org/drawingml/2006/main">
              <a:ext uri="{FF2B5EF4-FFF2-40B4-BE49-F238E27FC236}">
                <a16:creationId xmlns:a16="http://schemas.microsoft.com/office/drawing/2014/main" id="{EED2EB8F-E19A-44F2-A2A4-2C0679C54718}"/>
              </a:ext>
            </a:extLst>
          </p:cNvPr>
          <p:cNvSpPr>
            <a:spLocks xmlns:a="http://schemas.openxmlformats.org/drawingml/2006/main" noGrp="1"/>
          </p:cNvSpPr>
          <p:nvPr/>
        </p:nvSpPr>
        <p:spPr>
          <a:xfrm xmlns:a="http://schemas.openxmlformats.org/drawingml/2006/main">
            <a:off x="742950" y="34290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025" b="1">
                <a:solidFill>
                  <a:srgbClr val="050505"/>
                </a:solidFill>
                <a:latin typeface="Helvetica Neue"/>
                <a:ea typeface="Helvetica Neue"/>
                <a:cs typeface="Helvetica Neue"/>
              </a:defRPr>
            </a:pPr>
            <a:r>
              <a:rPr sz="2025" b="1">
                <a:solidFill>
                  <a:srgbClr val="050505"/>
                </a:solidFill>
                <a:latin typeface="Helvetica Neue"/>
                <a:ea typeface="Helvetica Neue"/>
                <a:cs typeface="Helvetica Neue"/>
              </a:rPr>
              <a:t>guided steps</a:t>
            </a:r>
          </a:p>
        </p:txBody>
      </p:sp>
      <p:sp>
        <p:nvSpPr>
          <p:cNvPr id="7" name="s5-body-0">
            <a:extLst xmlns:a="http://schemas.openxmlformats.org/drawingml/2006/main">
              <a:ext uri="{FF2B5EF4-FFF2-40B4-BE49-F238E27FC236}">
                <a16:creationId xmlns:a16="http://schemas.microsoft.com/office/drawing/2014/main" id="{ACEA376C-70F0-4BA2-8406-4794F222A6E0}"/>
              </a:ext>
            </a:extLst>
          </p:cNvPr>
          <p:cNvSpPr>
            <a:spLocks xmlns:a="http://schemas.openxmlformats.org/drawingml/2006/main" noGrp="1"/>
          </p:cNvSpPr>
          <p:nvPr/>
        </p:nvSpPr>
        <p:spPr>
          <a:xfrm xmlns:a="http://schemas.openxmlformats.org/drawingml/2006/main">
            <a:off x="742950" y="3962400"/>
            <a:ext cx="28575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6000"/>
              </a:lnSpc>
              <a:buNone/>
              <a:defRPr sz="1500" b="0">
                <a:solidFill>
                  <a:srgbClr val="5D6670"/>
                </a:solidFill>
                <a:latin typeface="Helvetica Neue"/>
                <a:ea typeface="Helvetica Neue"/>
                <a:cs typeface="Helvetica Neue"/>
              </a:defRPr>
            </a:pPr>
            <a:r>
              <a:rPr sz="1500" b="0">
                <a:solidFill>
                  <a:srgbClr val="5D6670"/>
                </a:solidFill>
                <a:latin typeface="Helvetica Neue"/>
                <a:ea typeface="Helvetica Neue"/>
                <a:cs typeface="Helvetica Neue"/>
              </a:rPr>
              <a:t>A complete prepare → process → finish learning cycle</a:t>
            </a:r>
          </a:p>
        </p:txBody>
      </p:sp>
      <p:sp>
        <p:nvSpPr>
          <p:cNvPr id="8" name="s5-panel-1">
            <a:extLst xmlns:a="http://schemas.openxmlformats.org/drawingml/2006/main">
              <a:ext uri="{FF2B5EF4-FFF2-40B4-BE49-F238E27FC236}">
                <a16:creationId xmlns:a16="http://schemas.microsoft.com/office/drawing/2014/main" id="{E2DF4E7C-00CB-4899-B45A-A4885E73F5FF}"/>
              </a:ext>
            </a:extLst>
          </p:cNvPr>
          <p:cNvSpPr>
            <a:spLocks xmlns:a="http://schemas.openxmlformats.org/drawingml/2006/main" noGrp="1"/>
          </p:cNvSpPr>
          <p:nvPr/>
        </p:nvSpPr>
        <p:spPr>
          <a:xfrm xmlns:a="http://schemas.openxmlformats.org/drawingml/2006/main">
            <a:off x="4343400" y="2324100"/>
            <a:ext cx="3314700" cy="2590800"/>
          </a:xfrm>
          <a:prstGeom xmlns:a="http://schemas.openxmlformats.org/drawingml/2006/main" prst="rect">
            <a:avLst/>
          </a:prstGeom>
          <a:solidFill xmlns:a="http://schemas.openxmlformats.org/drawingml/2006/main">
            <a:srgbClr val="F6F7F8"/>
          </a:solidFill>
          <a:ln xmlns:a="http://schemas.openxmlformats.org/drawingml/2006/main" w="0">
            <a:noFill/>
            <a:prstDash val="solid"/>
          </a:ln>
        </p:spPr>
      </p:sp>
      <p:sp>
        <p:nvSpPr>
          <p:cNvPr id="9" name="s5-stat-1">
            <a:extLst xmlns:a="http://schemas.openxmlformats.org/drawingml/2006/main">
              <a:ext uri="{FF2B5EF4-FFF2-40B4-BE49-F238E27FC236}">
                <a16:creationId xmlns:a16="http://schemas.microsoft.com/office/drawing/2014/main" id="{95A1DBF6-D747-46BC-A95B-5610F3C6D23B}"/>
              </a:ext>
            </a:extLst>
          </p:cNvPr>
          <p:cNvSpPr>
            <a:spLocks xmlns:a="http://schemas.openxmlformats.org/drawingml/2006/main" noGrp="1"/>
          </p:cNvSpPr>
          <p:nvPr/>
        </p:nvSpPr>
        <p:spPr>
          <a:xfrm xmlns:a="http://schemas.openxmlformats.org/drawingml/2006/main">
            <a:off x="4572000" y="2571750"/>
            <a:ext cx="11430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5316"/>
          </a:bodyPr>
          <a:lstStyle xmlns:a="http://schemas.openxmlformats.org/drawingml/2006/main"/>
          <a:p xmlns:a="http://schemas.openxmlformats.org/drawingml/2006/main">
            <a:pPr algn="l">
              <a:lnSpc>
                <a:spcPct val="102000"/>
              </a:lnSpc>
              <a:buNone/>
              <a:defRPr sz="5400" b="1">
                <a:solidFill>
                  <a:srgbClr val="1BA7D1"/>
                </a:solidFill>
                <a:latin typeface="Helvetica Neue"/>
                <a:ea typeface="Helvetica Neue"/>
                <a:cs typeface="Helvetica Neue"/>
              </a:defRPr>
            </a:pPr>
            <a:r>
              <a:rPr sz="5400" b="1">
                <a:solidFill>
                  <a:srgbClr val="1BA7D1"/>
                </a:solidFill>
                <a:latin typeface="Helvetica Neue"/>
                <a:ea typeface="Helvetica Neue"/>
                <a:cs typeface="Helvetica Neue"/>
              </a:rPr>
              <a:t>3</a:t>
            </a:r>
          </a:p>
        </p:txBody>
      </p:sp>
      <p:sp>
        <p:nvSpPr>
          <p:cNvPr id="10" name="s5-label-1">
            <a:extLst xmlns:a="http://schemas.openxmlformats.org/drawingml/2006/main">
              <a:ext uri="{FF2B5EF4-FFF2-40B4-BE49-F238E27FC236}">
                <a16:creationId xmlns:a16="http://schemas.microsoft.com/office/drawing/2014/main" id="{7E7B5F64-86BC-45BF-994C-61B1D3538815}"/>
              </a:ext>
            </a:extLst>
          </p:cNvPr>
          <p:cNvSpPr>
            <a:spLocks xmlns:a="http://schemas.openxmlformats.org/drawingml/2006/main" noGrp="1"/>
          </p:cNvSpPr>
          <p:nvPr/>
        </p:nvSpPr>
        <p:spPr>
          <a:xfrm xmlns:a="http://schemas.openxmlformats.org/drawingml/2006/main">
            <a:off x="4572000" y="34290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025" b="1">
                <a:solidFill>
                  <a:srgbClr val="050505"/>
                </a:solidFill>
                <a:latin typeface="Helvetica Neue"/>
                <a:ea typeface="Helvetica Neue"/>
                <a:cs typeface="Helvetica Neue"/>
              </a:defRPr>
            </a:pPr>
            <a:r>
              <a:rPr sz="2025" b="1">
                <a:solidFill>
                  <a:srgbClr val="050505"/>
                </a:solidFill>
                <a:latin typeface="Helvetica Neue"/>
                <a:ea typeface="Helvetica Neue"/>
                <a:cs typeface="Helvetica Neue"/>
              </a:rPr>
              <a:t>temperature zones</a:t>
            </a:r>
          </a:p>
        </p:txBody>
      </p:sp>
      <p:sp>
        <p:nvSpPr>
          <p:cNvPr id="11" name="s5-body-1">
            <a:extLst xmlns:a="http://schemas.openxmlformats.org/drawingml/2006/main">
              <a:ext uri="{FF2B5EF4-FFF2-40B4-BE49-F238E27FC236}">
                <a16:creationId xmlns:a16="http://schemas.microsoft.com/office/drawing/2014/main" id="{6B3DB6DE-5461-4E7F-802A-0EED3D6D52AB}"/>
              </a:ext>
            </a:extLst>
          </p:cNvPr>
          <p:cNvSpPr>
            <a:spLocks xmlns:a="http://schemas.openxmlformats.org/drawingml/2006/main" noGrp="1"/>
          </p:cNvSpPr>
          <p:nvPr/>
        </p:nvSpPr>
        <p:spPr>
          <a:xfrm xmlns:a="http://schemas.openxmlformats.org/drawingml/2006/main">
            <a:off x="4572000" y="3962400"/>
            <a:ext cx="28575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960"/>
          </a:bodyPr>
          <a:lstStyle xmlns:a="http://schemas.openxmlformats.org/drawingml/2006/main"/>
          <a:p xmlns:a="http://schemas.openxmlformats.org/drawingml/2006/main">
            <a:pPr algn="l">
              <a:lnSpc>
                <a:spcPct val="106000"/>
              </a:lnSpc>
              <a:buNone/>
              <a:defRPr sz="1500" b="0">
                <a:solidFill>
                  <a:srgbClr val="5D6670"/>
                </a:solidFill>
                <a:latin typeface="Helvetica Neue"/>
                <a:ea typeface="Helvetica Neue"/>
                <a:cs typeface="Helvetica Neue"/>
              </a:defRPr>
            </a:pPr>
            <a:r>
              <a:rPr sz="1500" b="0">
                <a:solidFill>
                  <a:srgbClr val="5D6670"/>
                </a:solidFill>
                <a:latin typeface="Helvetica Neue"/>
                <a:ea typeface="Helvetica Neue"/>
                <a:cs typeface="Helvetica Neue"/>
              </a:rPr>
              <a:t>Coordinated setpoints, ramp, soak, cooldown, and safety checks</a:t>
            </a:r>
          </a:p>
        </p:txBody>
      </p:sp>
      <p:sp>
        <p:nvSpPr>
          <p:cNvPr id="12" name="s5-panel-2">
            <a:extLst xmlns:a="http://schemas.openxmlformats.org/drawingml/2006/main">
              <a:ext uri="{FF2B5EF4-FFF2-40B4-BE49-F238E27FC236}">
                <a16:creationId xmlns:a16="http://schemas.microsoft.com/office/drawing/2014/main" id="{E493766C-FABB-4E37-ABD8-2A35284CD05A}"/>
              </a:ext>
            </a:extLst>
          </p:cNvPr>
          <p:cNvSpPr>
            <a:spLocks xmlns:a="http://schemas.openxmlformats.org/drawingml/2006/main" noGrp="1"/>
          </p:cNvSpPr>
          <p:nvPr/>
        </p:nvSpPr>
        <p:spPr>
          <a:xfrm xmlns:a="http://schemas.openxmlformats.org/drawingml/2006/main">
            <a:off x="8172450" y="2324100"/>
            <a:ext cx="3314700" cy="2590800"/>
          </a:xfrm>
          <a:prstGeom xmlns:a="http://schemas.openxmlformats.org/drawingml/2006/main" prst="rect">
            <a:avLst/>
          </a:prstGeom>
          <a:solidFill xmlns:a="http://schemas.openxmlformats.org/drawingml/2006/main">
            <a:srgbClr val="F6F7F8"/>
          </a:solidFill>
          <a:ln xmlns:a="http://schemas.openxmlformats.org/drawingml/2006/main" w="0">
            <a:noFill/>
            <a:prstDash val="solid"/>
          </a:ln>
        </p:spPr>
      </p:sp>
      <p:sp>
        <p:nvSpPr>
          <p:cNvPr id="13" name="s5-stat-2">
            <a:extLst xmlns:a="http://schemas.openxmlformats.org/drawingml/2006/main">
              <a:ext uri="{FF2B5EF4-FFF2-40B4-BE49-F238E27FC236}">
                <a16:creationId xmlns:a16="http://schemas.microsoft.com/office/drawing/2014/main" id="{3484EC0E-F563-484D-AC71-E2160DBF5576}"/>
              </a:ext>
            </a:extLst>
          </p:cNvPr>
          <p:cNvSpPr>
            <a:spLocks xmlns:a="http://schemas.openxmlformats.org/drawingml/2006/main" noGrp="1"/>
          </p:cNvSpPr>
          <p:nvPr/>
        </p:nvSpPr>
        <p:spPr>
          <a:xfrm xmlns:a="http://schemas.openxmlformats.org/drawingml/2006/main">
            <a:off x="8401050" y="2571750"/>
            <a:ext cx="11430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5316"/>
          </a:bodyPr>
          <a:lstStyle xmlns:a="http://schemas.openxmlformats.org/drawingml/2006/main"/>
          <a:p xmlns:a="http://schemas.openxmlformats.org/drawingml/2006/main">
            <a:pPr algn="l">
              <a:lnSpc>
                <a:spcPct val="102000"/>
              </a:lnSpc>
              <a:buNone/>
              <a:defRPr sz="5400" b="1">
                <a:solidFill>
                  <a:srgbClr val="1BA7D1"/>
                </a:solidFill>
                <a:latin typeface="Helvetica Neue"/>
                <a:ea typeface="Helvetica Neue"/>
                <a:cs typeface="Helvetica Neue"/>
              </a:defRPr>
            </a:pPr>
            <a:r>
              <a:rPr sz="5400" b="1">
                <a:solidFill>
                  <a:srgbClr val="1BA7D1"/>
                </a:solidFill>
                <a:latin typeface="Helvetica Neue"/>
                <a:ea typeface="Helvetica Neue"/>
                <a:cs typeface="Helvetica Neue"/>
              </a:rPr>
              <a:t>4</a:t>
            </a:r>
          </a:p>
        </p:txBody>
      </p:sp>
      <p:sp>
        <p:nvSpPr>
          <p:cNvPr id="14" name="s5-label-2">
            <a:extLst xmlns:a="http://schemas.openxmlformats.org/drawingml/2006/main">
              <a:ext uri="{FF2B5EF4-FFF2-40B4-BE49-F238E27FC236}">
                <a16:creationId xmlns:a16="http://schemas.microsoft.com/office/drawing/2014/main" id="{91D7E569-2E62-4098-99D5-3DB6EC0EFA8C}"/>
              </a:ext>
            </a:extLst>
          </p:cNvPr>
          <p:cNvSpPr>
            <a:spLocks xmlns:a="http://schemas.openxmlformats.org/drawingml/2006/main" noGrp="1"/>
          </p:cNvSpPr>
          <p:nvPr/>
        </p:nvSpPr>
        <p:spPr>
          <a:xfrm xmlns:a="http://schemas.openxmlformats.org/drawingml/2006/main">
            <a:off x="8401050" y="34290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025" b="1">
                <a:solidFill>
                  <a:srgbClr val="050505"/>
                </a:solidFill>
                <a:latin typeface="Helvetica Neue"/>
                <a:ea typeface="Helvetica Neue"/>
                <a:cs typeface="Helvetica Neue"/>
              </a:defRPr>
            </a:pPr>
            <a:r>
              <a:rPr sz="2025" b="1">
                <a:solidFill>
                  <a:srgbClr val="050505"/>
                </a:solidFill>
                <a:latin typeface="Helvetica Neue"/>
                <a:ea typeface="Helvetica Neue"/>
                <a:cs typeface="Helvetica Neue"/>
              </a:rPr>
              <a:t>hologram views</a:t>
            </a:r>
          </a:p>
        </p:txBody>
      </p:sp>
      <p:sp>
        <p:nvSpPr>
          <p:cNvPr id="15" name="s5-body-2">
            <a:extLst xmlns:a="http://schemas.openxmlformats.org/drawingml/2006/main">
              <a:ext uri="{FF2B5EF4-FFF2-40B4-BE49-F238E27FC236}">
                <a16:creationId xmlns:a16="http://schemas.microsoft.com/office/drawing/2014/main" id="{4B045E3D-B053-45AC-ACBF-6B787468E2E2}"/>
              </a:ext>
            </a:extLst>
          </p:cNvPr>
          <p:cNvSpPr>
            <a:spLocks xmlns:a="http://schemas.openxmlformats.org/drawingml/2006/main" noGrp="1"/>
          </p:cNvSpPr>
          <p:nvPr/>
        </p:nvSpPr>
        <p:spPr>
          <a:xfrm xmlns:a="http://schemas.openxmlformats.org/drawingml/2006/main">
            <a:off x="8401050" y="3962400"/>
            <a:ext cx="28575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960"/>
          </a:bodyPr>
          <a:lstStyle xmlns:a="http://schemas.openxmlformats.org/drawingml/2006/main"/>
          <a:p xmlns:a="http://schemas.openxmlformats.org/drawingml/2006/main">
            <a:pPr algn="l">
              <a:lnSpc>
                <a:spcPct val="106000"/>
              </a:lnSpc>
              <a:buNone/>
              <a:defRPr sz="1500" b="0">
                <a:solidFill>
                  <a:srgbClr val="5D6670"/>
                </a:solidFill>
                <a:latin typeface="Helvetica Neue"/>
                <a:ea typeface="Helvetica Neue"/>
                <a:cs typeface="Helvetica Neue"/>
              </a:defRPr>
            </a:pPr>
            <a:r>
              <a:rPr sz="1500" b="0">
                <a:solidFill>
                  <a:srgbClr val="5D6670"/>
                </a:solidFill>
                <a:latin typeface="Helvetica Neue"/>
                <a:ea typeface="Helvetica Neue"/>
                <a:cs typeface="Helvetica Neue"/>
              </a:rPr>
              <a:t>A synchronized output that refocuses with the active procedure step</a:t>
            </a:r>
          </a:p>
        </p:txBody>
      </p:sp>
      <p:sp>
        <p:nvSpPr>
          <p:cNvPr id="16" name="s5-impact">
            <a:extLst xmlns:a="http://schemas.openxmlformats.org/drawingml/2006/main">
              <a:ext uri="{FF2B5EF4-FFF2-40B4-BE49-F238E27FC236}">
                <a16:creationId xmlns:a16="http://schemas.microsoft.com/office/drawing/2014/main" id="{F22D4F1D-2192-45F6-BF32-67530A7E4DAA}"/>
              </a:ext>
            </a:extLst>
          </p:cNvPr>
          <p:cNvSpPr>
            <a:spLocks xmlns:a="http://schemas.openxmlformats.org/drawingml/2006/main" noGrp="1"/>
          </p:cNvSpPr>
          <p:nvPr/>
        </p:nvSpPr>
        <p:spPr>
          <a:xfrm xmlns:a="http://schemas.openxmlformats.org/drawingml/2006/main">
            <a:off x="514350" y="5238750"/>
            <a:ext cx="11163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650" b="1">
                <a:solidFill>
                  <a:srgbClr val="050505"/>
                </a:solidFill>
                <a:latin typeface="Helvetica Neue"/>
                <a:ea typeface="Helvetica Neue"/>
                <a:cs typeface="Helvetica Neue"/>
              </a:defRPr>
            </a:pPr>
            <a:r>
              <a:rPr sz="1650" b="1">
                <a:solidFill>
                  <a:srgbClr val="050505"/>
                </a:solidFill>
                <a:latin typeface="Helvetica Neue"/>
                <a:ea typeface="Helvetica Neue"/>
                <a:cs typeface="Helvetica Neue"/>
              </a:rPr>
              <a:t>Multimodal cues  •  adjustable simulation speed  •  no physical consumables during practice</a:t>
            </a:r>
          </a:p>
        </p:txBody>
      </p:sp>
      <p:sp>
        <p:nvSpPr>
          <p:cNvPr id="17" name="s5-repo">
            <a:extLst xmlns:a="http://schemas.openxmlformats.org/drawingml/2006/main">
              <a:ext uri="{FF2B5EF4-FFF2-40B4-BE49-F238E27FC236}">
                <a16:creationId xmlns:a16="http://schemas.microsoft.com/office/drawing/2014/main" id="{04B6CFC1-6BEA-46EC-9C16-B3D43B1DDD6F}"/>
              </a:ext>
            </a:extLst>
          </p:cNvPr>
          <p:cNvSpPr>
            <a:spLocks xmlns:a="http://schemas.openxmlformats.org/drawingml/2006/main" noGrp="1"/>
          </p:cNvSpPr>
          <p:nvPr/>
        </p:nvSpPr>
        <p:spPr>
          <a:xfrm xmlns:a="http://schemas.openxmlformats.org/drawingml/2006/main">
            <a:off x="514350" y="5791200"/>
            <a:ext cx="11163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425" b="1">
                <a:solidFill>
                  <a:srgbClr val="1BA7D1"/>
                </a:solidFill>
                <a:latin typeface="Helvetica Neue"/>
                <a:ea typeface="Helvetica Neue"/>
                <a:cs typeface="Helvetica Neue"/>
              </a:defRPr>
            </a:pPr>
            <a:r>
              <a:rPr sz="1425" b="1">
                <a:solidFill>
                  <a:srgbClr val="1BA7D1"/>
                </a:solidFill>
                <a:latin typeface="Helvetica Neue"/>
                <a:ea typeface="Helvetica Neue"/>
                <a:cs typeface="Helvetica Neue"/>
              </a:rPr>
              <a:t>Source &amp; project updates: </a:t>
            </a:r>
            <a:r>
              <a:rPr sz="1425" b="1">
                <a:solidFill>
                  <a:srgbClr val="1BA7D1"/>
                </a:solidFill>
                <a:latin typeface="Helvetica Neue"/>
                <a:ea typeface="Helvetica Neue"/>
                <a:cs typeface="Helvetica Neue"/>
                <a:hlinkClick xmlns:r="http://schemas.openxmlformats.org/officeDocument/2006/relationships" r:id="Rdc688519360240bd"/>
              </a:rPr>
              <a:t>github.com/SINRG-Lab/lab-space-vr</a:t>
            </a:r>
          </a:p>
        </p:txBody>
      </p:sp>
      <p:sp>
        <p:nvSpPr>
          <p:cNvPr id="18" name="s5-author">
            <a:extLst xmlns:a="http://schemas.openxmlformats.org/drawingml/2006/main">
              <a:ext uri="{FF2B5EF4-FFF2-40B4-BE49-F238E27FC236}">
                <a16:creationId xmlns:a16="http://schemas.microsoft.com/office/drawing/2014/main" id="{14CAD4B9-8F96-4700-8DE3-A2B1AF691511}"/>
              </a:ext>
            </a:extLst>
          </p:cNvPr>
          <p:cNvSpPr>
            <a:spLocks xmlns:a="http://schemas.openxmlformats.org/drawingml/2006/main" noGrp="1"/>
          </p:cNvSpPr>
          <p:nvPr/>
        </p:nvSpPr>
        <p:spPr>
          <a:xfrm xmlns:a="http://schemas.openxmlformats.org/drawingml/2006/main">
            <a:off x="514350" y="6181725"/>
            <a:ext cx="11163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200" b="0">
                <a:solidFill>
                  <a:srgbClr val="5D6670"/>
                </a:solidFill>
                <a:latin typeface="Helvetica Neue"/>
                <a:ea typeface="Helvetica Neue"/>
                <a:cs typeface="Helvetica Neue"/>
              </a:defRPr>
            </a:pPr>
            <a:r>
              <a:rPr sz="1200" b="0">
                <a:solidFill>
                  <a:srgbClr val="5D6670"/>
                </a:solidFill>
                <a:latin typeface="Helvetica Neue"/>
                <a:ea typeface="Helvetica Neue"/>
                <a:cs typeface="Helvetica Neue"/>
              </a:rPr>
              <a:t>LabSpace VR Team  •  Northeastern University</a:t>
            </a:r>
          </a:p>
        </p:txBody>
      </p:sp>
      <p:sp>
        <p:nvSpPr>
          <p:cNvPr id="19" name="slide-5-footer-left">
            <a:extLst xmlns:a="http://schemas.openxmlformats.org/drawingml/2006/main">
              <a:ext uri="{FF2B5EF4-FFF2-40B4-BE49-F238E27FC236}">
                <a16:creationId xmlns:a16="http://schemas.microsoft.com/office/drawing/2014/main" id="{9EE85598-A112-40BB-BA39-CC4A95FBED89}"/>
              </a:ext>
            </a:extLst>
          </p:cNvPr>
          <p:cNvSpPr>
            <a:spLocks xmlns:a="http://schemas.openxmlformats.org/drawingml/2006/main" noGrp="1"/>
          </p:cNvSpPr>
          <p:nvPr/>
        </p:nvSpPr>
        <p:spPr>
          <a:xfrm xmlns:a="http://schemas.openxmlformats.org/drawingml/2006/main">
            <a:off x="514350" y="6486525"/>
            <a:ext cx="409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2000"/>
              </a:lnSpc>
              <a:buNone/>
              <a:defRPr sz="900" b="1">
                <a:solidFill>
                  <a:srgbClr val="5D6670"/>
                </a:solidFill>
                <a:latin typeface="Helvetica Neue"/>
                <a:ea typeface="Helvetica Neue"/>
                <a:cs typeface="Helvetica Neue"/>
              </a:defRPr>
            </a:pPr>
            <a:r>
              <a:rPr sz="900" b="1">
                <a:solidFill>
                  <a:srgbClr val="5D6670"/>
                </a:solidFill>
                <a:latin typeface="Helvetica Neue"/>
                <a:ea typeface="Helvetica Neue"/>
                <a:cs typeface="Helvetica Neue"/>
              </a:rPr>
              <a:t>LABSPACE VR  •  ADVANCED LEARNING</a:t>
            </a:r>
          </a:p>
        </p:txBody>
      </p:sp>
      <p:sp>
        <p:nvSpPr>
          <p:cNvPr id="20" name="slide-5-footer-number">
            <a:extLst xmlns:a="http://schemas.openxmlformats.org/drawingml/2006/main">
              <a:ext uri="{FF2B5EF4-FFF2-40B4-BE49-F238E27FC236}">
                <a16:creationId xmlns:a16="http://schemas.microsoft.com/office/drawing/2014/main" id="{A1BB6EDF-0D60-4139-BB19-DE9BE8FDF221}"/>
              </a:ext>
            </a:extLst>
          </p:cNvPr>
          <p:cNvSpPr>
            <a:spLocks xmlns:a="http://schemas.openxmlformats.org/drawingml/2006/main" noGrp="1"/>
          </p:cNvSpPr>
          <p:nvPr/>
        </p:nvSpPr>
        <p:spPr>
          <a:xfrm xmlns:a="http://schemas.openxmlformats.org/drawingml/2006/main">
            <a:off x="11163300" y="6438900"/>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02000"/>
              </a:lnSpc>
              <a:buNone/>
              <a:defRPr sz="1050" b="1">
                <a:solidFill>
                  <a:srgbClr val="5D6670"/>
                </a:solidFill>
                <a:latin typeface="Helvetica Neue"/>
                <a:ea typeface="Helvetica Neue"/>
                <a:cs typeface="Helvetica Neue"/>
              </a:defRPr>
            </a:pPr>
            <a:r>
              <a:rPr sz="1050" b="1">
                <a:solidFill>
                  <a:srgbClr val="5D6670"/>
                </a:solidFill>
                <a:latin typeface="Helvetica Neue"/>
                <a:ea typeface="Helvetica Neue"/>
                <a:cs typeface="Helvetica Neue"/>
              </a:rPr>
              <a:t>05</a:t>
            </a:r>
          </a:p>
        </p:txBody>
      </p:sp>
    </p:spTree>
    <p:extLst>
      <p:ext uri="{BB962C8B-B14F-4D97-AF65-F5344CB8AC3E}">
        <p14:creationId xmlns:p14="http://schemas.microsoft.com/office/powerpoint/2010/main" val="2667109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2026-08-08T19:53:11.3700000Z</dcterms:created>
  <dcterms:modified xsi:type="dcterms:W3CDTF">2026-08-08T19:53:11.3700000Z</dcterms:modified>
</coreProperties>
</file>